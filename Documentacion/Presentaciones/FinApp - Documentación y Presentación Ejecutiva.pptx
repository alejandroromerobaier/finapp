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21e28c24-f6e1-4f22-903c-37413b83cd2f.fntdata" /><ns0:Relationship Id="rIdFont20" Type="http://schemas.openxmlformats.org/officeDocument/2006/relationships/font" Target="fonts/63593fe1-fc90-4022-9a30-59acefce8a1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4617690"/>
            <a:ext cx="10515600" cy="704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4617690"/>
            <a:ext cx="105156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76550" y="4955827"/>
            <a:ext cx="9525" cy="304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38800" y="4955827"/>
            <a:ext cx="9525" cy="304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5459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200" y="2297459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Control financiero inteligente, personal y colaborativo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627090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Arquitectura técnica, módulos de producto y guía ejecutiva de funcionalidades en tiempo 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5900" y="1683097"/>
            <a:ext cx="2083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0B981"/>
                </a:solidFill>
                <a:latin typeface="Plus Jakarta Sans"/>
              </a:rPr>
              <a:t>FINAPP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893915"/>
            <a:ext cx="2119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Versión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5103465"/>
            <a:ext cx="21193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BD5E1"/>
                </a:solidFill>
                <a:latin typeface="Plus Jakarta Sans"/>
              </a:rPr>
              <a:t>PWA Standalone 2.6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8975" y="4893915"/>
            <a:ext cx="2583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Base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8975" y="5103465"/>
            <a:ext cx="25836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BD5E1"/>
                </a:solidFill>
                <a:latin typeface="Plus Jakarta Sans"/>
              </a:rPr>
              <a:t>Cloud Firestore Realtime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1225" y="4893915"/>
            <a:ext cx="2071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Enfoque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1225" y="5103465"/>
            <a:ext cx="207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0B981"/>
                </a:solidFill>
                <a:latin typeface="Plus Jakarta Sans"/>
              </a:rPr>
              <a:t>Bóvedas Multidivisa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33687"/>
            <a:ext cx="3403550" cy="2192535"/>
          </a:xfrm>
          <a:prstGeom prst="roundRect">
            <a:avLst>
              <a:gd name="adj" fmla="val 78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2833687"/>
            <a:ext cx="3403550" cy="2192535"/>
          </a:xfrm>
          <a:prstGeom prst="roundRect">
            <a:avLst>
              <a:gd name="adj" fmla="val 78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2833687"/>
            <a:ext cx="3403550" cy="2192535"/>
          </a:xfrm>
          <a:prstGeom prst="roundRect">
            <a:avLst>
              <a:gd name="adj" fmla="val 78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317658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00" y="317658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050" y="317658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300412"/>
            <a:ext cx="26670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012" y="3300412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300" y="3300412"/>
            <a:ext cx="26670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PROPUESTA DE VALOR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8572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Ecosistema integral de control patrimonial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3824287"/>
            <a:ext cx="371706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Bóvedas Compartidas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4186237"/>
            <a:ext cx="2927300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Sincronización instantánea con autoría de movimientos.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9900" y="3824287"/>
            <a:ext cx="371706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Atajos Rápidos 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9900" y="4186237"/>
            <a:ext cx="2927300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Registro express de gastos en dos segundos.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2050" y="3824287"/>
            <a:ext cx="371706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Modo Incógnito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2050" y="4186237"/>
            <a:ext cx="2927300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Enmascaramiento de saldos para uso público.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320230"/>
            <a:ext cx="5615880" cy="933450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425130"/>
            <a:ext cx="5615880" cy="933450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530030"/>
            <a:ext cx="5615880" cy="933450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080" y="1701105"/>
            <a:ext cx="4594919" cy="438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CENTRO DE MANDO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572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Dashboard intuitivo y balance consolidado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2529780"/>
            <a:ext cx="67207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Tarjetas de Balance Oscuras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50" y="2825055"/>
            <a:ext cx="64007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Desglose de saldo anterior e ingresos netos.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3634680"/>
            <a:ext cx="67207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Privacidad en Un Toque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929955"/>
            <a:ext cx="64007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Icono de ojo para ocultar montos confidenciales.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739580"/>
            <a:ext cx="67207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Feed de Actividad Reciente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5034855"/>
            <a:ext cx="64007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Etiquetado claro de gastos fijos y variables.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14119" y="2320230"/>
            <a:ext cx="5615880" cy="933450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14119" y="3425130"/>
            <a:ext cx="5615880" cy="933450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14119" y="4530030"/>
            <a:ext cx="5615880" cy="933450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01105"/>
            <a:ext cx="4594919" cy="438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FINANZAS COLABORATIVAS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572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Bóvedas para parejas, grupos y convivientes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1769" y="2529780"/>
            <a:ext cx="613023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Separación de Proyectos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1769" y="2825055"/>
            <a:ext cx="613023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Billetera personal aislada de fondos comunes.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1769" y="3634680"/>
            <a:ext cx="613023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Gestión de Colaboradores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1769" y="3929955"/>
            <a:ext cx="613023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Roles definidos entre propietario y miembros.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1769" y="4739580"/>
            <a:ext cx="613023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Soporte Multidivisa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1769" y="5034855"/>
            <a:ext cx="613023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Operación nativa en Dólares, Pesos y Euros.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49180" y="2296417"/>
            <a:ext cx="6080819" cy="981075"/>
          </a:xfrm>
          <a:prstGeom prst="roundRect">
            <a:avLst>
              <a:gd name="adj" fmla="val 155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49180" y="3429892"/>
            <a:ext cx="6080819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49180" y="4553842"/>
            <a:ext cx="6080819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ERGONOMÍA TÁCTIL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572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Atajos rápidos para consumos cotidianos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058417"/>
            <a:ext cx="5067225" cy="1028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100"/>
              </a:lnSpc>
            </a:pPr>
            <a:r>
              <a:rPr b="1" sz="8100" i="0" u="none">
                <a:solidFill>
                  <a:srgbClr val="0F172A"/>
                </a:solidFill>
                <a:latin typeface="Plus Jakarta Sans"/>
              </a:rPr>
              <a:t>2s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201417"/>
            <a:ext cx="50672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Tiempo récord de carga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544317"/>
            <a:ext cx="50672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Registro de compras sin formularios innecesarios.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15880" y="2525017"/>
            <a:ext cx="657611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Insignia de Rayo Dorado 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5880" y="2829817"/>
            <a:ext cx="657611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Presets táctiles para pádel, café y supermercado.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5880" y="3658492"/>
            <a:ext cx="657611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Teclado Numérico Gigante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5880" y="3953767"/>
            <a:ext cx="657611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Modal optimizado para entrada directa del importe.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15880" y="4782442"/>
            <a:ext cx="657611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Montos por Defecto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5880" y="5077717"/>
            <a:ext cx="657611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Valores predeterminados para confirmación inmediata.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410717"/>
            <a:ext cx="5615880" cy="885825"/>
          </a:xfrm>
          <a:prstGeom prst="roundRect">
            <a:avLst>
              <a:gd name="adj" fmla="val 172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448942"/>
            <a:ext cx="5615880" cy="885825"/>
          </a:xfrm>
          <a:prstGeom prst="roundRect">
            <a:avLst>
              <a:gd name="adj" fmla="val 172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487167"/>
            <a:ext cx="5615880" cy="885825"/>
          </a:xfrm>
          <a:prstGeom prst="roundRect">
            <a:avLst>
              <a:gd name="adj" fmla="val 172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0600" y="2648842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0600" y="3687067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90600" y="4725292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080" y="1701105"/>
            <a:ext cx="4594919" cy="438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PREVENCIÓN FINANCIERA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8572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Objetivos de proyecto y semáforo de 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886967"/>
            <a:ext cx="6448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Consumo bajo control holgado.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3925192"/>
            <a:ext cx="6448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Aviso de moderación de presupuesto.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4963417"/>
            <a:ext cx="6448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Exceso presupuestario con alerta visual.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8250" y="2601217"/>
            <a:ext cx="27003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Margen Seguro (&lt; 85%)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8250" y="3639442"/>
            <a:ext cx="35504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Alerta Temprana (85% - 100%)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50" y="4677667"/>
            <a:ext cx="306288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Sobregiro Crítico (&gt; 100%)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529780"/>
            <a:ext cx="5050035" cy="276225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3035" y="2525017"/>
            <a:ext cx="5236964" cy="914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3035" y="3610867"/>
            <a:ext cx="5236964" cy="914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3035" y="4696717"/>
            <a:ext cx="5236964" cy="600075"/>
          </a:xfrm>
          <a:prstGeom prst="roundRect">
            <a:avLst>
              <a:gd name="adj" fmla="val 2539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267" y="2872680"/>
            <a:ext cx="1333500" cy="1333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DIAGNÓSTICO PATRIMONIAL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572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Análisis de estabilidad: fijos vs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1205" y="4396680"/>
            <a:ext cx="1964531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$ 56.000,00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717" y="4749105"/>
            <a:ext cx="3143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Total egresos del período auditado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9735" y="2753617"/>
            <a:ext cx="3067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338CA"/>
                </a:solidFill>
                <a:latin typeface="Plus Jakarta Sans"/>
              </a:rPr>
              <a:t>Costos Fijos (89.3%)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6975" y="2839342"/>
            <a:ext cx="13620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$ 50.000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9735" y="3839467"/>
            <a:ext cx="33623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Costos Variables (10.7%)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8900" y="3925192"/>
            <a:ext cx="12001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$ 6.000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1635" y="4887217"/>
            <a:ext cx="577036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Plus Jakarta Sans"/>
              </a:rPr>
              <a:t>Salud Financiera: Margen óptimo de liquidez mensual.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9735" y="2991742"/>
            <a:ext cx="3714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Compromisos ineludibles y servicios.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9735" y="4077592"/>
            <a:ext cx="40838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Entretenimiento y salidas discrecionales.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14119" y="2320230"/>
            <a:ext cx="5615880" cy="933450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14119" y="3425130"/>
            <a:ext cx="5615880" cy="933450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14119" y="4530030"/>
            <a:ext cx="5615880" cy="933450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01105"/>
            <a:ext cx="4594919" cy="438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INTELIGENCIA Y AUDITORÍA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572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Reportes de estado y exportación formal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1769" y="2529780"/>
            <a:ext cx="613023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Certificación en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1769" y="2825055"/>
            <a:ext cx="613023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Documentos ejecutivos con ID criptográfico único.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1769" y="3634680"/>
            <a:ext cx="613023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Ventanas Temporales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1769" y="3929955"/>
            <a:ext cx="613023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Agrupación mensual, trimestral y anual.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1769" y="4739580"/>
            <a:ext cx="613023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Exportación 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1769" y="5034855"/>
            <a:ext cx="613023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Tablas estructuradas para Excel y Google Sheets.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320230"/>
            <a:ext cx="5615880" cy="933450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425130"/>
            <a:ext cx="5615880" cy="933450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530030"/>
            <a:ext cx="5615880" cy="933450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080" y="1701105"/>
            <a:ext cx="4594919" cy="438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PERSONALIZACIÓN Y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572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Ajustes de cuenta, seguridad y preferencias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2529780"/>
            <a:ext cx="67207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Autenticación Segura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50" y="2825055"/>
            <a:ext cx="64007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Gestión mediante Firebase y Google Account.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3634680"/>
            <a:ext cx="67207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Panel de Preferencias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929955"/>
            <a:ext cx="64007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Configuración de moneda base y método de pago.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739580"/>
            <a:ext cx="67207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Administración Modular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5034855"/>
            <a:ext cx="64007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Acceso central a proyectos, categorías y atajos.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33687"/>
            <a:ext cx="3403550" cy="2192535"/>
          </a:xfrm>
          <a:prstGeom prst="roundRect">
            <a:avLst>
              <a:gd name="adj" fmla="val 78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2833687"/>
            <a:ext cx="3403550" cy="2192535"/>
          </a:xfrm>
          <a:prstGeom prst="roundRect">
            <a:avLst>
              <a:gd name="adj" fmla="val 78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2833687"/>
            <a:ext cx="3403550" cy="2192535"/>
          </a:xfrm>
          <a:prstGeom prst="roundRect">
            <a:avLst>
              <a:gd name="adj" fmla="val 78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317658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00" y="317658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050" y="317658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050" y="3290887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8487" y="3290887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4925" y="3290887"/>
            <a:ext cx="17145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INFRAESTRUCTURA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8572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Stack moderno y arquitectura escalable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3824287"/>
            <a:ext cx="371706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Frontend Moderno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4186237"/>
            <a:ext cx="2927300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React 18 con TypeScript y Vite para alta velocidad.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9900" y="3824287"/>
            <a:ext cx="371706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Servicios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9900" y="4186237"/>
            <a:ext cx="2927300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Cloud Firestore y Firebase Auth para datos en vivo.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2050" y="3824287"/>
            <a:ext cx="371706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PWA Standalone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2050" y="4186237"/>
            <a:ext cx="2927300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Instalación universal en iOS y Android sin tiendas.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01230"/>
            <a:ext cx="5143500" cy="2457450"/>
          </a:xfrm>
          <a:prstGeom prst="roundRect">
            <a:avLst>
              <a:gd name="adj" fmla="val 77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658367"/>
            <a:ext cx="5181600" cy="2543175"/>
          </a:xfrm>
          <a:prstGeom prst="roundRect">
            <a:avLst>
              <a:gd name="adj" fmla="val 749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53625" y="3020317"/>
            <a:ext cx="1152525" cy="247650"/>
          </a:xfrm>
          <a:prstGeom prst="roundRect">
            <a:avLst>
              <a:gd name="adj" fmla="val 30769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ESTRATEGIA 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572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Planes y monetización enfocada en convivencia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063180"/>
            <a:ext cx="11049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PLAN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320355"/>
            <a:ext cx="595074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Gratuito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3344167"/>
            <a:ext cx="5619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$ 4.99 USD 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/ 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891855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Billetera personal ilimitada.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244280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1 bóveda compartida (hasta 2 personas).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4596705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Hasta 4 atajos rápidos táctiles.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0" y="3058417"/>
            <a:ext cx="1028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PLAN 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8875" y="3058417"/>
            <a:ext cx="10572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Recomendado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0" y="3915667"/>
            <a:ext cx="5619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Bóvedas colaborativas ilimitadas.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0" y="4268092"/>
            <a:ext cx="5619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Atajos y presets infinitos.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0" y="4620517"/>
            <a:ext cx="5619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Escaneo de tickets con IA y bot WhatsApp.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24162" y="4744342"/>
            <a:ext cx="2505075" cy="523875"/>
          </a:xfrm>
          <a:prstGeom prst="roundRect">
            <a:avLst>
              <a:gd name="adj" fmla="val 21818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19737" y="4753867"/>
            <a:ext cx="3848100" cy="504825"/>
          </a:xfrm>
          <a:prstGeom prst="roundRect">
            <a:avLst>
              <a:gd name="adj" fmla="val 2264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158978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0390" y="2504182"/>
            <a:ext cx="9751218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8FAFC"/>
                </a:solidFill>
                <a:latin typeface="Plus Jakarta Sans"/>
              </a:rPr>
              <a:t>El control definitivo de tus recursos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05062" y="3791842"/>
            <a:ext cx="738187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Comienza a gestionar tu patrimonio con precisión y crea tu primera bóveda compartida hoy mismo.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39653" y="4896742"/>
            <a:ext cx="22740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Plus Jakarta Sans"/>
              </a:rPr>
              <a:t>Iniciar en FinApp PWA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2100" y="4906267"/>
            <a:ext cx="4143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CBD5E1"/>
                </a:solidFill>
                <a:latin typeface="Plus Jakarta Sans"/>
              </a:rPr>
              <a:t>Contacto: alejandroromerobaier@gmail.com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