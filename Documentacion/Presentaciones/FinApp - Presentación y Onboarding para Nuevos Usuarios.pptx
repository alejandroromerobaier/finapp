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SemiBold"/>
      <p:regular r:id="rId14"/>
      <p:bold r:id="rId15"/>
      <p:italic r:id="rId16"/>
      <p:boldItalic r:id="rId17"/>
    </p:embeddedFont>
    <p:embeddedFont>
      <p:font typeface="Inter SemiBold"/>
      <p:regular r:id="rId18"/>
      <p:bold r:id="rId19"/>
      <p:italic r:id="rId20"/>
      <p:boldItalic r:id="rId21"/>
    </p:embeddedFont>
    <p:embeddedFont>
      <p:font typeface="Montserrat"/>
      <p:bold r:id="rId22"/>
      <p:boldItalic r:id="rId23"/>
    </p:embeddedFont>
    <p:embeddedFont>
      <p:font typeface="Inter"/>
      <p:regular r:id="rId24"/>
      <p:bold r:id="rId25"/>
      <p:italic r:id="rId26"/>
      <p:boldItalic r:id="rId27"/>
    </p:embeddedFont>
    <p:embeddedFont>
      <p:font typeface="Inter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italic.fntdata"/><Relationship Id="rId22" Type="http://schemas.openxmlformats.org/officeDocument/2006/relationships/font" Target="fonts/Montserrat-bold.fntdata"/><Relationship Id="rId21" Type="http://schemas.openxmlformats.org/officeDocument/2006/relationships/font" Target="fonts/InterSemiBold-boldItalic.fntdata"/><Relationship Id="rId24" Type="http://schemas.openxmlformats.org/officeDocument/2006/relationships/font" Target="fonts/Inter-regular.fntdata"/><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InterMedium-regular.fntdata"/><Relationship Id="rId27"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Italic.fntdata"/><Relationship Id="rId30" Type="http://schemas.openxmlformats.org/officeDocument/2006/relationships/font" Target="fonts/InterMedium-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MontserratSemiBold-bold.fntdata"/><Relationship Id="rId14" Type="http://schemas.openxmlformats.org/officeDocument/2006/relationships/font" Target="fonts/MontserratSemiBold-regular.fntdata"/><Relationship Id="rId17" Type="http://schemas.openxmlformats.org/officeDocument/2006/relationships/font" Target="fonts/MontserratSemiBold-boldItalic.fntdata"/><Relationship Id="rId16" Type="http://schemas.openxmlformats.org/officeDocument/2006/relationships/font" Target="fonts/MontserratSemiBold-italic.fntdata"/><Relationship Id="rId19" Type="http://schemas.openxmlformats.org/officeDocument/2006/relationships/font" Target="fonts/InterSemiBold-bold.fntdata"/><Relationship Id="rId18"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65cbdbd8275bf7ad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65cbdbd8275bf7ad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65cbdbd8275bf7ad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65cbdbd8275bf7ad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65cbdbd8275bf7ad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65cbdbd8275bf7ad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65cbdbd8275bf7ad_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65cbdbd8275bf7ad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65cbdbd8275bf7ad_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65cbdbd8275bf7ad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65cbdbd8275bf7ad_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h65cbdbd8275bf7a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65cbdbd8275bf7ad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h65cbdbd8275bf7a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65cbdbd8275bf7ad_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h65cbdbd8275bf7a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5cbdbd8275bf7ad_2_0)">
  <p:cSld name="Generated (h65cbdbd8275bf7ad_2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 name="Google Shape;56;p14"/>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 name="Google Shape;58;p14"/>
          <p:cNvGrpSpPr/>
          <p:nvPr/>
        </p:nvGrpSpPr>
        <p:grpSpPr>
          <a:xfrm>
            <a:off x="3762375" y="285750"/>
            <a:ext cx="1666875" cy="381000"/>
            <a:chOff x="95250" y="76200"/>
            <a:chExt cx="1666875" cy="381000"/>
          </a:xfrm>
        </p:grpSpPr>
        <p:sp>
          <p:nvSpPr>
            <p:cNvPr id="59" name="Google Shape;59;p14"/>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000">
                  <a:solidFill>
                    <a:srgbClr val="F8FAFC"/>
                  </a:solidFill>
                  <a:latin typeface="Montserrat"/>
                  <a:ea typeface="Montserrat"/>
                  <a:cs typeface="Montserrat"/>
                  <a:sym typeface="Montserrat"/>
                </a:rPr>
                <a:t>FinApp</a:t>
              </a:r>
              <a:endParaRPr b="1" sz="2000">
                <a:solidFill>
                  <a:srgbClr val="F8FAFC"/>
                </a:solidFill>
                <a:latin typeface="Montserrat"/>
                <a:ea typeface="Montserrat"/>
                <a:cs typeface="Montserrat"/>
                <a:sym typeface="Montserrat"/>
              </a:endParaRPr>
            </a:p>
          </p:txBody>
        </p:sp>
      </p:grpSp>
      <p:sp>
        <p:nvSpPr>
          <p:cNvPr id="62" name="Google Shape;62;p14"/>
          <p:cNvSpPr txBox="1"/>
          <p:nvPr/>
        </p:nvSpPr>
        <p:spPr>
          <a:xfrm>
            <a:off x="381000" y="714375"/>
            <a:ext cx="83820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50"/>
              </a:spcAft>
              <a:buNone/>
            </a:pPr>
            <a:r>
              <a:rPr b="1" lang="es" sz="2600">
                <a:solidFill>
                  <a:srgbClr val="F8FAFC"/>
                </a:solidFill>
                <a:latin typeface="Montserrat"/>
                <a:ea typeface="Montserrat"/>
                <a:cs typeface="Montserrat"/>
                <a:sym typeface="Montserrat"/>
              </a:rPr>
              <a:t>FinApp: Tu aliado inteligente en finanzas personales y compartidas.</a:t>
            </a:r>
            <a:endParaRPr b="1" sz="2600">
              <a:solidFill>
                <a:srgbClr val="F8FAFC"/>
              </a:solidFill>
              <a:latin typeface="Montserrat"/>
              <a:ea typeface="Montserrat"/>
              <a:cs typeface="Montserrat"/>
              <a:sym typeface="Montserrat"/>
            </a:endParaRPr>
          </a:p>
        </p:txBody>
      </p:sp>
      <p:sp>
        <p:nvSpPr>
          <p:cNvPr id="63" name="Google Shape;63;p14"/>
          <p:cNvSpPr txBox="1"/>
          <p:nvPr/>
        </p:nvSpPr>
        <p:spPr>
          <a:xfrm>
            <a:off x="381000" y="1543050"/>
            <a:ext cx="838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500">
                <a:solidFill>
                  <a:srgbClr val="3B82F6"/>
                </a:solidFill>
                <a:latin typeface="Inter Medium"/>
                <a:ea typeface="Inter Medium"/>
                <a:cs typeface="Inter Medium"/>
                <a:sym typeface="Inter Medium"/>
              </a:rPr>
              <a:t>Tutorial de Onboarding y Guía Ejecutiva para el dominio total de tus recursos económicos.</a:t>
            </a:r>
            <a:endParaRPr b="0" sz="1500">
              <a:solidFill>
                <a:srgbClr val="3B82F6"/>
              </a:solidFill>
              <a:latin typeface="Inter Medium"/>
              <a:ea typeface="Inter Medium"/>
              <a:cs typeface="Inter Medium"/>
              <a:sym typeface="Inter Medium"/>
            </a:endParaRPr>
          </a:p>
        </p:txBody>
      </p:sp>
      <p:sp>
        <p:nvSpPr>
          <p:cNvPr id="64" name="Google Shape;64;p14"/>
          <p:cNvSpPr/>
          <p:nvPr/>
        </p:nvSpPr>
        <p:spPr>
          <a:xfrm>
            <a:off x="381000" y="2076450"/>
            <a:ext cx="8382000" cy="2428800"/>
          </a:xfrm>
          <a:prstGeom prst="roundRect">
            <a:avLst>
              <a:gd fmla="val 4705" name="adj"/>
            </a:avLst>
          </a:prstGeom>
          <a:solidFill>
            <a:srgbClr val="1E293B">
              <a:alpha val="75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571500" y="2209800"/>
            <a:ext cx="8001000" cy="2171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s" sz="900">
                <a:solidFill>
                  <a:srgbClr val="10B981"/>
                </a:solidFill>
                <a:latin typeface="Inter SemiBold"/>
                <a:ea typeface="Inter SemiBold"/>
                <a:cs typeface="Inter SemiBold"/>
                <a:sym typeface="Inter SemiBold"/>
              </a:rPr>
              <a:t>RESUMEN EJECUTIVO DEL ONBOARDING</a:t>
            </a:r>
            <a:endParaRPr b="0" sz="900">
              <a:solidFill>
                <a:srgbClr val="10B981"/>
              </a:solidFill>
              <a:latin typeface="Inter SemiBold"/>
              <a:ea typeface="Inter SemiBold"/>
              <a:cs typeface="Inter SemiBold"/>
              <a:sym typeface="Inter SemiBold"/>
            </a:endParaRPr>
          </a:p>
          <a:p>
            <a:pPr indent="0" lvl="0" marL="0" rtl="0" algn="l">
              <a:spcBef>
                <a:spcPts val="600"/>
              </a:spcBef>
              <a:spcAft>
                <a:spcPts val="0"/>
              </a:spcAft>
              <a:buNone/>
            </a:pPr>
            <a:r>
              <a:rPr b="0" lang="es" sz="1050">
                <a:solidFill>
                  <a:srgbClr val="CBD5E1"/>
                </a:solidFill>
                <a:latin typeface="Inter"/>
                <a:ea typeface="Inter"/>
                <a:cs typeface="Inter"/>
                <a:sym typeface="Inter"/>
              </a:rPr>
              <a:t>Bienvenidos al tutorial integral de FinApp. Esta presentación está diseñada como una guía exhaustiva para que los usuarios dominen cada aspecto de la plataforma, desde la gestión de la billetera personal hasta la administración avanzada de proyectos colaborativos. FinApp no es solo un registro de gastos; es un ecosistema financiero diseñado para proporcionar claridad, control y colaboración en tiempo real. A lo largo de este documento, exploraremos las funcionalidades clave que hacen de FinApp la herramienta definitiva para la estabilidad económica. Analizaremos el Centro de Mando, las Bóvedas Compartidas, los sistemas de carga rápida mediante IA y atajos, la gestión de presupuestos con alertas visuales, y la generación de reportes ejecutivos. El objetivo de este onboarding es garantizar que cada usuario pueda maximizar el potencial de la aplicación, optimizando su tiempo mediante herramientas de registro ágil y protegiendo su privacidad con funciones especializadas. Prepárese para transformar la manera en que interactúa con su dinero, centralizando toda su información financiera en una única plataforma accesible, segura y altamente eficiente.</a:t>
            </a:r>
            <a:endParaRPr b="0" sz="1050">
              <a:solidFill>
                <a:srgbClr val="CBD5E1"/>
              </a:solidFill>
              <a:latin typeface="Inter"/>
              <a:ea typeface="Inter"/>
              <a:cs typeface="Inter"/>
              <a:sym typeface="Inter"/>
            </a:endParaRPr>
          </a:p>
        </p:txBody>
      </p:sp>
      <p:grpSp>
        <p:nvGrpSpPr>
          <p:cNvPr id="66" name="Google Shape;66;p14"/>
          <p:cNvGrpSpPr/>
          <p:nvPr/>
        </p:nvGrpSpPr>
        <p:grpSpPr>
          <a:xfrm>
            <a:off x="381000" y="4714875"/>
            <a:ext cx="8382000" cy="285750"/>
            <a:chOff x="381000" y="4714875"/>
            <a:chExt cx="8382000" cy="285750"/>
          </a:xfrm>
        </p:grpSpPr>
        <p:cxnSp>
          <p:nvCxnSpPr>
            <p:cNvPr id="67" name="Google Shape;67;p14"/>
            <p:cNvCxnSpPr/>
            <p:nvPr/>
          </p:nvCxnSpPr>
          <p:spPr>
            <a:xfrm>
              <a:off x="381000" y="4714875"/>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68" name="Google Shape;68;p14"/>
            <p:cNvSpPr txBox="1"/>
            <p:nvPr/>
          </p:nvSpPr>
          <p:spPr>
            <a:xfrm>
              <a:off x="381000" y="4810125"/>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CONFIDENCIAL - USO INTERNO</a:t>
              </a:r>
              <a:endParaRPr b="0" sz="900">
                <a:solidFill>
                  <a:srgbClr val="94A3B8"/>
                </a:solidFill>
                <a:latin typeface="Inter SemiBold"/>
                <a:ea typeface="Inter SemiBold"/>
                <a:cs typeface="Inter SemiBold"/>
                <a:sym typeface="Inter SemiBold"/>
              </a:endParaRPr>
            </a:p>
          </p:txBody>
        </p:sp>
        <p:sp>
          <p:nvSpPr>
            <p:cNvPr id="69" name="Google Shape;69;p14"/>
            <p:cNvSpPr txBox="1"/>
            <p:nvPr/>
          </p:nvSpPr>
          <p:spPr>
            <a:xfrm>
              <a:off x="7810500" y="4810125"/>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900">
                  <a:solidFill>
                    <a:srgbClr val="94A3B8"/>
                  </a:solidFill>
                  <a:latin typeface="Inter SemiBold"/>
                  <a:ea typeface="Inter SemiBold"/>
                  <a:cs typeface="Inter SemiBold"/>
                  <a:sym typeface="Inter SemiBold"/>
                </a:rPr>
                <a:t>2023-10-25</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3" name="Shape 73"/>
        <p:cNvGrpSpPr/>
        <p:nvPr/>
      </p:nvGrpSpPr>
      <p:grpSpPr>
        <a:xfrm>
          <a:off x="0" y="0"/>
          <a:ext cx="0" cy="0"/>
          <a:chOff x="0" y="0"/>
          <a:chExt cx="0" cy="0"/>
        </a:xfrm>
      </p:grpSpPr>
      <p:sp>
        <p:nvSpPr>
          <p:cNvPr id="74" name="Google Shape;74;p15"/>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6" name="Google Shape;76;p15"/>
          <p:cNvGrpSpPr/>
          <p:nvPr/>
        </p:nvGrpSpPr>
        <p:grpSpPr>
          <a:xfrm>
            <a:off x="442913" y="287655"/>
            <a:ext cx="1083469" cy="247650"/>
            <a:chOff x="95250" y="76200"/>
            <a:chExt cx="1666875" cy="381000"/>
          </a:xfrm>
        </p:grpSpPr>
        <p:sp>
          <p:nvSpPr>
            <p:cNvPr id="77" name="Google Shape;77;p15"/>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5"/>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400">
                  <a:solidFill>
                    <a:srgbClr val="F8FAFC"/>
                  </a:solidFill>
                  <a:latin typeface="Montserrat"/>
                  <a:ea typeface="Montserrat"/>
                  <a:cs typeface="Montserrat"/>
                  <a:sym typeface="Montserrat"/>
                </a:rPr>
                <a:t>FinApp</a:t>
              </a:r>
              <a:endParaRPr b="1" sz="1400">
                <a:solidFill>
                  <a:srgbClr val="F8FAFC"/>
                </a:solidFill>
                <a:latin typeface="Montserrat"/>
                <a:ea typeface="Montserrat"/>
                <a:cs typeface="Montserrat"/>
                <a:sym typeface="Montserrat"/>
              </a:endParaRPr>
            </a:p>
          </p:txBody>
        </p:sp>
      </p:grpSp>
      <p:sp>
        <p:nvSpPr>
          <p:cNvPr id="80" name="Google Shape;80;p15"/>
          <p:cNvSpPr txBox="1"/>
          <p:nvPr/>
        </p:nvSpPr>
        <p:spPr>
          <a:xfrm>
            <a:off x="381000" y="714375"/>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400">
                <a:solidFill>
                  <a:srgbClr val="F8FAFC"/>
                </a:solidFill>
                <a:latin typeface="Montserrat"/>
                <a:ea typeface="Montserrat"/>
                <a:cs typeface="Montserrat"/>
                <a:sym typeface="Montserrat"/>
              </a:rPr>
              <a:t>Centro de Mando (Dashboard Principal)</a:t>
            </a:r>
            <a:endParaRPr b="1" sz="2400">
              <a:solidFill>
                <a:srgbClr val="F8FAFC"/>
              </a:solidFill>
              <a:latin typeface="Montserrat"/>
              <a:ea typeface="Montserrat"/>
              <a:cs typeface="Montserrat"/>
              <a:sym typeface="Montserrat"/>
            </a:endParaRPr>
          </a:p>
          <a:p>
            <a:pPr indent="0" lvl="0" marL="0" rtl="0" algn="l">
              <a:spcBef>
                <a:spcPts val="450"/>
              </a:spcBef>
              <a:spcAft>
                <a:spcPts val="0"/>
              </a:spcAft>
              <a:buNone/>
            </a:pPr>
            <a:r>
              <a:rPr b="0" lang="es" sz="1500">
                <a:solidFill>
                  <a:srgbClr val="3B82F6"/>
                </a:solidFill>
                <a:latin typeface="Inter Medium"/>
                <a:ea typeface="Inter Medium"/>
                <a:cs typeface="Inter Medium"/>
                <a:sym typeface="Inter Medium"/>
              </a:rPr>
              <a:t>Control Total y Privacidad a un Clic</a:t>
            </a:r>
            <a:endParaRPr b="0" sz="1500">
              <a:solidFill>
                <a:srgbClr val="3B82F6"/>
              </a:solidFill>
              <a:latin typeface="Inter Medium"/>
              <a:ea typeface="Inter Medium"/>
              <a:cs typeface="Inter Medium"/>
              <a:sym typeface="Inter Medium"/>
            </a:endParaRPr>
          </a:p>
        </p:txBody>
      </p:sp>
      <p:grpSp>
        <p:nvGrpSpPr>
          <p:cNvPr id="81" name="Google Shape;81;p15"/>
          <p:cNvGrpSpPr/>
          <p:nvPr/>
        </p:nvGrpSpPr>
        <p:grpSpPr>
          <a:xfrm>
            <a:off x="381000" y="1524000"/>
            <a:ext cx="4095900" cy="3095700"/>
            <a:chOff x="0" y="0"/>
            <a:chExt cx="4095900" cy="3095700"/>
          </a:xfrm>
        </p:grpSpPr>
        <p:sp>
          <p:nvSpPr>
            <p:cNvPr id="82" name="Google Shape;82;p15"/>
            <p:cNvSpPr/>
            <p:nvPr/>
          </p:nvSpPr>
          <p:spPr>
            <a:xfrm>
              <a:off x="0" y="0"/>
              <a:ext cx="4095900" cy="3095700"/>
            </a:xfrm>
            <a:prstGeom prst="roundRect">
              <a:avLst>
                <a:gd fmla="val 3692"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txBox="1"/>
            <p:nvPr/>
          </p:nvSpPr>
          <p:spPr>
            <a:xfrm>
              <a:off x="190500" y="171450"/>
              <a:ext cx="37149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18">
                  <a:solidFill>
                    <a:srgbClr val="3B82F6"/>
                  </a:solidFill>
                  <a:latin typeface="Montserrat SemiBold"/>
                  <a:ea typeface="Montserrat SemiBold"/>
                  <a:cs typeface="Montserrat SemiBold"/>
                  <a:sym typeface="Montserrat SemiBold"/>
                </a:rPr>
                <a:t>Navegación Temporal Intuitiva</a:t>
              </a:r>
              <a:endParaRPr b="0" sz="1018">
                <a:solidFill>
                  <a:srgbClr val="3B82F6"/>
                </a:solidFill>
                <a:latin typeface="Montserrat SemiBold"/>
                <a:ea typeface="Montserrat SemiBold"/>
                <a:cs typeface="Montserrat SemiBold"/>
                <a:sym typeface="Montserrat SemiBold"/>
              </a:endParaRPr>
            </a:p>
            <a:p>
              <a:pPr indent="0" lvl="0" marL="0" rtl="0" algn="l">
                <a:spcBef>
                  <a:spcPts val="300"/>
                </a:spcBef>
                <a:spcAft>
                  <a:spcPts val="0"/>
                </a:spcAft>
                <a:buNone/>
              </a:pPr>
              <a:r>
                <a:rPr b="0" lang="es" sz="879">
                  <a:solidFill>
                    <a:srgbClr val="94A3B8"/>
                  </a:solidFill>
                  <a:latin typeface="Inter"/>
                  <a:ea typeface="Inter"/>
                  <a:cs typeface="Inter"/>
                  <a:sym typeface="Inter"/>
                </a:rPr>
                <a:t>El sistema permite una navegación temporal fluida entre diferentes meses. Los usuarios pueden retroceder o avanzar en el tiempo para comparar el rendimiento financiero histórico, evaluar tendencias de gasto y planificar el futuro con base en datos reales.</a:t>
              </a:r>
              <a:endParaRPr b="0" sz="879">
                <a:solidFill>
                  <a:srgbClr val="94A3B8"/>
                </a:solidFill>
                <a:latin typeface="Inter"/>
                <a:ea typeface="Inter"/>
                <a:cs typeface="Inter"/>
                <a:sym typeface="Inter"/>
              </a:endParaRPr>
            </a:p>
            <a:p>
              <a:pPr indent="0" lvl="0" marL="0" rtl="0" algn="l">
                <a:spcBef>
                  <a:spcPts val="1050"/>
                </a:spcBef>
                <a:spcAft>
                  <a:spcPts val="0"/>
                </a:spcAft>
                <a:buNone/>
              </a:pPr>
              <a:r>
                <a:rPr b="0" lang="es" sz="1018">
                  <a:solidFill>
                    <a:srgbClr val="3B82F6"/>
                  </a:solidFill>
                  <a:latin typeface="Montserrat SemiBold"/>
                  <a:ea typeface="Montserrat SemiBold"/>
                  <a:cs typeface="Montserrat SemiBold"/>
                  <a:sym typeface="Montserrat SemiBold"/>
                </a:rPr>
                <a:t>Modo Incógnito para Privacidad Absoluta</a:t>
              </a:r>
              <a:endParaRPr b="0" sz="1018">
                <a:solidFill>
                  <a:srgbClr val="3B82F6"/>
                </a:solidFill>
                <a:latin typeface="Montserrat SemiBold"/>
                <a:ea typeface="Montserrat SemiBold"/>
                <a:cs typeface="Montserrat SemiBold"/>
                <a:sym typeface="Montserrat SemiBold"/>
              </a:endParaRPr>
            </a:p>
            <a:p>
              <a:pPr indent="0" lvl="0" marL="0" rtl="0" algn="l">
                <a:spcBef>
                  <a:spcPts val="300"/>
                </a:spcBef>
                <a:spcAft>
                  <a:spcPts val="0"/>
                </a:spcAft>
                <a:buNone/>
              </a:pPr>
              <a:r>
                <a:rPr b="0" lang="es" sz="879">
                  <a:solidFill>
                    <a:srgbClr val="94A3B8"/>
                  </a:solidFill>
                  <a:latin typeface="Inter"/>
                  <a:ea typeface="Inter"/>
                  <a:cs typeface="Inter"/>
                  <a:sym typeface="Inter"/>
                </a:rPr>
                <a:t>Entendemos que la privacidad financiera es primordial en lugares públicos. Por ello, FinApp incorpora un 'Modo Incógnito' accesible en 1-clic mediante el botón de ojo (***). Al activar esta función, todos los saldos y cifras sensibles se ocultan instantáneamente.</a:t>
              </a:r>
              <a:endParaRPr b="0" sz="879">
                <a:solidFill>
                  <a:srgbClr val="94A3B8"/>
                </a:solidFill>
                <a:latin typeface="Inter"/>
                <a:ea typeface="Inter"/>
                <a:cs typeface="Inter"/>
                <a:sym typeface="Inter"/>
              </a:endParaRPr>
            </a:p>
            <a:p>
              <a:pPr indent="0" lvl="0" marL="0" rtl="0" algn="l">
                <a:spcBef>
                  <a:spcPts val="1050"/>
                </a:spcBef>
                <a:spcAft>
                  <a:spcPts val="0"/>
                </a:spcAft>
                <a:buNone/>
              </a:pPr>
              <a:r>
                <a:rPr b="0" lang="es" sz="1018">
                  <a:solidFill>
                    <a:srgbClr val="3B82F6"/>
                  </a:solidFill>
                  <a:latin typeface="Montserrat SemiBold"/>
                  <a:ea typeface="Montserrat SemiBold"/>
                  <a:cs typeface="Montserrat SemiBold"/>
                  <a:sym typeface="Montserrat SemiBold"/>
                </a:rPr>
                <a:t>Tarjetas de Balance Estructuradas</a:t>
              </a:r>
              <a:endParaRPr b="0" sz="1018">
                <a:solidFill>
                  <a:srgbClr val="3B82F6"/>
                </a:solidFill>
                <a:latin typeface="Montserrat SemiBold"/>
                <a:ea typeface="Montserrat SemiBold"/>
                <a:cs typeface="Montserrat SemiBold"/>
                <a:sym typeface="Montserrat SemiBold"/>
              </a:endParaRPr>
            </a:p>
            <a:p>
              <a:pPr indent="0" lvl="0" marL="0" rtl="0" algn="l">
                <a:spcBef>
                  <a:spcPts val="300"/>
                </a:spcBef>
                <a:spcAft>
                  <a:spcPts val="0"/>
                </a:spcAft>
                <a:buNone/>
              </a:pPr>
              <a:r>
                <a:rPr b="0" lang="es" sz="879">
                  <a:solidFill>
                    <a:srgbClr val="94A3B8"/>
                  </a:solidFill>
                  <a:latin typeface="Inter"/>
                  <a:ea typeface="Inter"/>
                  <a:cs typeface="Inter"/>
                  <a:sym typeface="Inter"/>
                </a:rPr>
                <a:t>El panel central separa claramente la billetera personal de los proyectos colaborativos, desglosando Saldo Anterior, Ingresos, Gastos y Resultado del Mes.</a:t>
              </a:r>
              <a:endParaRPr b="0" sz="879">
                <a:solidFill>
                  <a:srgbClr val="94A3B8"/>
                </a:solidFill>
                <a:latin typeface="Inter"/>
                <a:ea typeface="Inter"/>
                <a:cs typeface="Inter"/>
                <a:sym typeface="Inter"/>
              </a:endParaRPr>
            </a:p>
          </p:txBody>
        </p:sp>
      </p:grpSp>
      <p:grpSp>
        <p:nvGrpSpPr>
          <p:cNvPr id="84" name="Google Shape;84;p15"/>
          <p:cNvGrpSpPr/>
          <p:nvPr/>
        </p:nvGrpSpPr>
        <p:grpSpPr>
          <a:xfrm>
            <a:off x="4667250" y="1524000"/>
            <a:ext cx="4095900" cy="952500"/>
            <a:chOff x="0" y="0"/>
            <a:chExt cx="4095900" cy="952500"/>
          </a:xfrm>
        </p:grpSpPr>
        <p:sp>
          <p:nvSpPr>
            <p:cNvPr id="85" name="Google Shape;85;p15"/>
            <p:cNvSpPr/>
            <p:nvPr/>
          </p:nvSpPr>
          <p:spPr>
            <a:xfrm>
              <a:off x="0" y="0"/>
              <a:ext cx="4095900" cy="952500"/>
            </a:xfrm>
            <a:prstGeom prst="roundRect">
              <a:avLst>
                <a:gd fmla="val 12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6" name="Google Shape;86;p15"/>
            <p:cNvPicPr preferRelativeResize="0"/>
            <p:nvPr/>
          </p:nvPicPr>
          <p:blipFill rotWithShape="1">
            <a:blip r:embed="rId3">
              <a:alphaModFix/>
            </a:blip>
            <a:srcRect b="0" l="0" r="0" t="0"/>
            <a:stretch/>
          </p:blipFill>
          <p:spPr>
            <a:xfrm>
              <a:off x="280988" y="319088"/>
              <a:ext cx="3533700" cy="409500"/>
            </a:xfrm>
            <a:prstGeom prst="rect">
              <a:avLst/>
            </a:prstGeom>
            <a:noFill/>
            <a:ln>
              <a:noFill/>
            </a:ln>
          </p:spPr>
        </p:pic>
        <p:sp>
          <p:nvSpPr>
            <p:cNvPr id="87" name="Google Shape;87;p15"/>
            <p:cNvSpPr txBox="1"/>
            <p:nvPr/>
          </p:nvSpPr>
          <p:spPr>
            <a:xfrm>
              <a:off x="190500" y="152400"/>
              <a:ext cx="3714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RESULTADO DEL MES (BALANCE)</a:t>
              </a:r>
              <a:endParaRPr b="0" sz="900">
                <a:solidFill>
                  <a:srgbClr val="94A3B8"/>
                </a:solidFill>
                <a:latin typeface="Inter SemiBold"/>
                <a:ea typeface="Inter SemiBold"/>
                <a:cs typeface="Inter SemiBold"/>
                <a:sym typeface="Inter SemiBold"/>
              </a:endParaRPr>
            </a:p>
            <a:p>
              <a:pPr indent="0" lvl="0" marL="0" rtl="0" algn="l">
                <a:spcBef>
                  <a:spcPts val="450"/>
                </a:spcBef>
                <a:spcAft>
                  <a:spcPts val="0"/>
                </a:spcAft>
                <a:buNone/>
              </a:pPr>
              <a:r>
                <a:rPr b="1" lang="es" sz="2800">
                  <a:solidFill>
                    <a:srgbClr val="10B981"/>
                  </a:solidFill>
                  <a:latin typeface="Montserrat"/>
                  <a:ea typeface="Montserrat"/>
                  <a:cs typeface="Montserrat"/>
                  <a:sym typeface="Montserrat"/>
                </a:rPr>
                <a:t>$1,250.00</a:t>
              </a:r>
              <a:endParaRPr b="1" sz="2800">
                <a:solidFill>
                  <a:srgbClr val="10B981"/>
                </a:solidFill>
                <a:latin typeface="Montserrat"/>
                <a:ea typeface="Montserrat"/>
                <a:cs typeface="Montserrat"/>
                <a:sym typeface="Montserrat"/>
              </a:endParaRPr>
            </a:p>
          </p:txBody>
        </p:sp>
      </p:grpSp>
      <p:grpSp>
        <p:nvGrpSpPr>
          <p:cNvPr id="88" name="Google Shape;88;p15"/>
          <p:cNvGrpSpPr/>
          <p:nvPr/>
        </p:nvGrpSpPr>
        <p:grpSpPr>
          <a:xfrm>
            <a:off x="4657725" y="2581275"/>
            <a:ext cx="4114800" cy="876300"/>
            <a:chOff x="-9525" y="-9525"/>
            <a:chExt cx="4114800" cy="876300"/>
          </a:xfrm>
        </p:grpSpPr>
        <p:pic>
          <p:nvPicPr>
            <p:cNvPr id="89" name="Google Shape;89;p15"/>
            <p:cNvPicPr preferRelativeResize="0"/>
            <p:nvPr/>
          </p:nvPicPr>
          <p:blipFill rotWithShape="1">
            <a:blip r:embed="rId4">
              <a:alphaModFix/>
            </a:blip>
            <a:srcRect b="0" l="0" r="0" t="0"/>
            <a:stretch/>
          </p:blipFill>
          <p:spPr>
            <a:xfrm>
              <a:off x="-9525" y="-9525"/>
              <a:ext cx="4114800" cy="876300"/>
            </a:xfrm>
            <a:prstGeom prst="rect">
              <a:avLst/>
            </a:prstGeom>
            <a:noFill/>
            <a:ln>
              <a:noFill/>
            </a:ln>
          </p:spPr>
        </p:pic>
        <p:sp>
          <p:nvSpPr>
            <p:cNvPr id="90" name="Google Shape;90;p15"/>
            <p:cNvSpPr/>
            <p:nvPr/>
          </p:nvSpPr>
          <p:spPr>
            <a:xfrm>
              <a:off x="190500" y="190500"/>
              <a:ext cx="476400" cy="476400"/>
            </a:xfrm>
            <a:prstGeom prst="roundRect">
              <a:avLst>
                <a:gd fmla="val 20000" name="adj"/>
              </a:avLst>
            </a:prstGeom>
            <a:solidFill>
              <a:srgbClr val="3B82F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1" name="Google Shape;91;p15"/>
            <p:cNvGrpSpPr/>
            <p:nvPr/>
          </p:nvGrpSpPr>
          <p:grpSpPr>
            <a:xfrm>
              <a:off x="422910" y="422910"/>
              <a:ext cx="182880" cy="182880"/>
              <a:chOff x="19050" y="19050"/>
              <a:chExt cx="152400" cy="152400"/>
            </a:xfrm>
          </p:grpSpPr>
          <p:sp>
            <p:nvSpPr>
              <p:cNvPr id="92" name="Google Shape;92;p15"/>
              <p:cNvSpPr/>
              <p:nvPr/>
            </p:nvSpPr>
            <p:spPr>
              <a:xfrm>
                <a:off x="19050" y="28575"/>
                <a:ext cx="152400" cy="133500"/>
              </a:xfrm>
              <a:custGeom>
                <a:rect b="b" l="l" r="r" t="t"/>
                <a:pathLst>
                  <a:path extrusionOk="0" h="120000" w="120000">
                    <a:moveTo>
                      <a:pt x="0" y="60000"/>
                    </a:moveTo>
                    <a:cubicBezTo>
                      <a:pt x="0" y="60000"/>
                      <a:pt x="26250" y="0"/>
                      <a:pt x="60000" y="0"/>
                    </a:cubicBezTo>
                    <a:lnTo>
                      <a:pt x="120000" y="60000"/>
                    </a:lnTo>
                    <a:lnTo>
                      <a:pt x="120000" y="60000"/>
                    </a:lnTo>
                    <a:lnTo>
                      <a:pt x="93750" y="120000"/>
                    </a:lnTo>
                    <a:lnTo>
                      <a:pt x="60000" y="120000"/>
                    </a:lnTo>
                    <a:lnTo>
                      <a:pt x="0" y="60000"/>
                    </a:lnTo>
                    <a:lnTo>
                      <a:pt x="0" y="60000"/>
                    </a:lnTo>
                    <a:close/>
                  </a:path>
                </a:pathLst>
              </a:custGeom>
              <a:solidFill>
                <a:srgbClr val="000000">
                  <a:alpha val="0"/>
                </a:srgbClr>
              </a:solidFill>
              <a:ln cap="rnd"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p:nvPr/>
            </p:nvSpPr>
            <p:spPr>
              <a:xfrm>
                <a:off x="71438" y="71438"/>
                <a:ext cx="47700" cy="47700"/>
              </a:xfrm>
              <a:prstGeom prst="ellipse">
                <a:avLst/>
              </a:prstGeom>
              <a:solidFill>
                <a:srgbClr val="000000">
                  <a:alpha val="0"/>
                </a:srgbClr>
              </a:solidFill>
              <a:ln cap="rnd"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5"/>
              <p:cNvSpPr/>
              <p:nvPr/>
            </p:nvSpPr>
            <p:spPr>
              <a:xfrm>
                <a:off x="19050" y="19050"/>
                <a:ext cx="152400" cy="152400"/>
              </a:xfrm>
              <a:custGeom>
                <a:rect b="b" l="l" r="r" t="t"/>
                <a:pathLst>
                  <a:path extrusionOk="0" h="120000" w="120000">
                    <a:moveTo>
                      <a:pt x="0" y="0"/>
                    </a:moveTo>
                    <a:lnTo>
                      <a:pt x="120000" y="120000"/>
                    </a:lnTo>
                  </a:path>
                </a:pathLst>
              </a:custGeom>
              <a:solidFill>
                <a:srgbClr val="000000">
                  <a:alpha val="0"/>
                </a:srgbClr>
              </a:solidFill>
              <a:ln cap="rnd"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5" name="Google Shape;95;p15"/>
            <p:cNvSpPr txBox="1"/>
            <p:nvPr/>
          </p:nvSpPr>
          <p:spPr>
            <a:xfrm>
              <a:off x="809625" y="171450"/>
              <a:ext cx="2095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33">
                  <a:solidFill>
                    <a:srgbClr val="3B82F6"/>
                  </a:solidFill>
                  <a:latin typeface="Inter SemiBold"/>
                  <a:ea typeface="Inter SemiBold"/>
                  <a:cs typeface="Inter SemiBold"/>
                  <a:sym typeface="Inter SemiBold"/>
                </a:rPr>
                <a:t>MODO INCÓGNITO ACTIVO</a:t>
              </a:r>
              <a:endParaRPr b="0" sz="833">
                <a:solidFill>
                  <a:srgbClr val="3B82F6"/>
                </a:solidFill>
                <a:latin typeface="Inter SemiBold"/>
                <a:ea typeface="Inter SemiBold"/>
                <a:cs typeface="Inter SemiBold"/>
                <a:sym typeface="Inter SemiBold"/>
              </a:endParaRPr>
            </a:p>
            <a:p>
              <a:pPr indent="0" lvl="0" marL="0" rtl="0" algn="l">
                <a:spcBef>
                  <a:spcPts val="225"/>
                </a:spcBef>
                <a:spcAft>
                  <a:spcPts val="0"/>
                </a:spcAft>
                <a:buNone/>
              </a:pPr>
              <a:r>
                <a:rPr b="1" lang="es" sz="1203">
                  <a:solidFill>
                    <a:srgbClr val="F8FAFC"/>
                  </a:solidFill>
                  <a:latin typeface="Montserrat"/>
                  <a:ea typeface="Montserrat"/>
                  <a:cs typeface="Montserrat"/>
                  <a:sym typeface="Montserrat"/>
                </a:rPr>
                <a:t>Saldos Ocultos</a:t>
              </a:r>
              <a:endParaRPr b="1" sz="1203">
                <a:solidFill>
                  <a:srgbClr val="F8FAFC"/>
                </a:solidFill>
                <a:latin typeface="Montserrat"/>
                <a:ea typeface="Montserrat"/>
                <a:cs typeface="Montserrat"/>
                <a:sym typeface="Montserrat"/>
              </a:endParaRPr>
            </a:p>
            <a:p>
              <a:pPr indent="0" lvl="0" marL="0" rtl="0" algn="l">
                <a:spcBef>
                  <a:spcPts val="150"/>
                </a:spcBef>
                <a:spcAft>
                  <a:spcPts val="0"/>
                </a:spcAft>
                <a:buNone/>
              </a:pPr>
              <a:r>
                <a:rPr b="0" lang="es" sz="1018">
                  <a:solidFill>
                    <a:srgbClr val="10B981"/>
                  </a:solidFill>
                  <a:latin typeface="Inter SemiBold"/>
                  <a:ea typeface="Inter SemiBold"/>
                  <a:cs typeface="Inter SemiBold"/>
                  <a:sym typeface="Inter SemiBold"/>
                </a:rPr>
                <a:t>$ • • • • • •</a:t>
              </a:r>
              <a:endParaRPr b="0" sz="1018">
                <a:solidFill>
                  <a:srgbClr val="10B981"/>
                </a:solidFill>
                <a:latin typeface="Inter SemiBold"/>
                <a:ea typeface="Inter SemiBold"/>
                <a:cs typeface="Inter SemiBold"/>
                <a:sym typeface="Inter SemiBold"/>
              </a:endParaRPr>
            </a:p>
          </p:txBody>
        </p:sp>
        <p:sp>
          <p:nvSpPr>
            <p:cNvPr id="96" name="Google Shape;96;p15"/>
            <p:cNvSpPr/>
            <p:nvPr/>
          </p:nvSpPr>
          <p:spPr>
            <a:xfrm>
              <a:off x="3000375" y="266700"/>
              <a:ext cx="904800" cy="324000"/>
            </a:xfrm>
            <a:prstGeom prst="roundRect">
              <a:avLst>
                <a:gd fmla="val 50000" name="adj"/>
              </a:avLst>
            </a:prstGeom>
            <a:solidFill>
              <a:srgbClr val="3B82F6">
                <a:alpha val="20000"/>
              </a:srgbClr>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3000375" y="333375"/>
              <a:ext cx="9048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3B82F6"/>
                  </a:solidFill>
                  <a:latin typeface="Inter SemiBold"/>
                  <a:ea typeface="Inter SemiBold"/>
                  <a:cs typeface="Inter SemiBold"/>
                  <a:sym typeface="Inter SemiBold"/>
                </a:rPr>
                <a:t>1-CLIC (***)</a:t>
              </a:r>
              <a:endParaRPr b="0" sz="850">
                <a:solidFill>
                  <a:srgbClr val="3B82F6"/>
                </a:solidFill>
                <a:latin typeface="Inter SemiBold"/>
                <a:ea typeface="Inter SemiBold"/>
                <a:cs typeface="Inter SemiBold"/>
                <a:sym typeface="Inter SemiBold"/>
              </a:endParaRPr>
            </a:p>
          </p:txBody>
        </p:sp>
      </p:grpSp>
      <p:grpSp>
        <p:nvGrpSpPr>
          <p:cNvPr id="98" name="Google Shape;98;p15"/>
          <p:cNvGrpSpPr/>
          <p:nvPr/>
        </p:nvGrpSpPr>
        <p:grpSpPr>
          <a:xfrm>
            <a:off x="4667250" y="3562350"/>
            <a:ext cx="4095900" cy="1057200"/>
            <a:chOff x="0" y="0"/>
            <a:chExt cx="4095900" cy="1057200"/>
          </a:xfrm>
        </p:grpSpPr>
        <p:sp>
          <p:nvSpPr>
            <p:cNvPr id="99" name="Google Shape;99;p15"/>
            <p:cNvSpPr/>
            <p:nvPr/>
          </p:nvSpPr>
          <p:spPr>
            <a:xfrm>
              <a:off x="0" y="0"/>
              <a:ext cx="4095900" cy="1057200"/>
            </a:xfrm>
            <a:prstGeom prst="roundRect">
              <a:avLst>
                <a:gd fmla="val 1081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142875" y="114300"/>
              <a:ext cx="1190700" cy="209700"/>
            </a:xfrm>
            <a:prstGeom prst="roundRect">
              <a:avLst>
                <a:gd fmla="val 27272"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142875" y="142875"/>
              <a:ext cx="1190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750">
                  <a:solidFill>
                    <a:srgbClr val="F8FAFC"/>
                  </a:solidFill>
                  <a:latin typeface="Inter SemiBold"/>
                  <a:ea typeface="Inter SemiBold"/>
                  <a:cs typeface="Inter SemiBold"/>
                  <a:sym typeface="Inter SemiBold"/>
                </a:rPr>
                <a:t>BILLETERA PERSONAL</a:t>
              </a:r>
              <a:endParaRPr b="0" sz="750">
                <a:solidFill>
                  <a:srgbClr val="F8FAFC"/>
                </a:solidFill>
                <a:latin typeface="Inter SemiBold"/>
                <a:ea typeface="Inter SemiBold"/>
                <a:cs typeface="Inter SemiBold"/>
                <a:sym typeface="Inter SemiBold"/>
              </a:endParaRPr>
            </a:p>
          </p:txBody>
        </p:sp>
        <p:sp>
          <p:nvSpPr>
            <p:cNvPr id="102" name="Google Shape;102;p15"/>
            <p:cNvSpPr/>
            <p:nvPr/>
          </p:nvSpPr>
          <p:spPr>
            <a:xfrm>
              <a:off x="1409700" y="114300"/>
              <a:ext cx="1381200" cy="209700"/>
            </a:xfrm>
            <a:prstGeom prst="roundRect">
              <a:avLst>
                <a:gd fmla="val 27272"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1409700" y="142875"/>
              <a:ext cx="13812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94">
                  <a:solidFill>
                    <a:srgbClr val="94A3B8"/>
                  </a:solidFill>
                  <a:latin typeface="Inter SemiBold"/>
                  <a:ea typeface="Inter SemiBold"/>
                  <a:cs typeface="Inter SemiBold"/>
                  <a:sym typeface="Inter SemiBold"/>
                </a:rPr>
                <a:t>PROYECTOS COLABORATIVOS</a:t>
              </a:r>
              <a:endParaRPr b="0" sz="694">
                <a:solidFill>
                  <a:srgbClr val="94A3B8"/>
                </a:solidFill>
                <a:latin typeface="Inter SemiBold"/>
                <a:ea typeface="Inter SemiBold"/>
                <a:cs typeface="Inter SemiBold"/>
                <a:sym typeface="Inter SemiBold"/>
              </a:endParaRPr>
            </a:p>
          </p:txBody>
        </p:sp>
        <p:sp>
          <p:nvSpPr>
            <p:cNvPr id="104" name="Google Shape;104;p15"/>
            <p:cNvSpPr txBox="1"/>
            <p:nvPr/>
          </p:nvSpPr>
          <p:spPr>
            <a:xfrm>
              <a:off x="190500" y="438150"/>
              <a:ext cx="37149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s" sz="698">
                  <a:solidFill>
                    <a:srgbClr val="94A3B8"/>
                  </a:solidFill>
                  <a:latin typeface="Inter"/>
                  <a:ea typeface="Inter"/>
                  <a:cs typeface="Inter"/>
                  <a:sym typeface="Inter"/>
                </a:rPr>
                <a:t>Saldo Anterior:</a:t>
              </a:r>
              <a:r>
                <a:rPr lang="es" sz="1085"/>
                <a:t> </a:t>
              </a:r>
              <a:r>
                <a:rPr b="0" lang="es" sz="698">
                  <a:solidFill>
                    <a:srgbClr val="F8FAFC"/>
                  </a:solidFill>
                  <a:latin typeface="Montserrat SemiBold"/>
                  <a:ea typeface="Montserrat SemiBold"/>
                  <a:cs typeface="Montserrat SemiBold"/>
                  <a:sym typeface="Montserrat SemiBold"/>
                </a:rPr>
                <a:t>$3,400.00</a:t>
              </a:r>
              <a:endParaRPr sz="1085"/>
            </a:p>
            <a:p>
              <a:pPr indent="0" lvl="0" marL="0" rtl="0" algn="l">
                <a:spcBef>
                  <a:spcPts val="0"/>
                </a:spcBef>
                <a:spcAft>
                  <a:spcPts val="0"/>
                </a:spcAft>
                <a:buNone/>
              </a:pPr>
              <a:r>
                <a:rPr lang="es" sz="698">
                  <a:solidFill>
                    <a:srgbClr val="94A3B8"/>
                  </a:solidFill>
                  <a:latin typeface="Inter"/>
                  <a:ea typeface="Inter"/>
                  <a:cs typeface="Inter"/>
                  <a:sym typeface="Inter"/>
                </a:rPr>
                <a:t>Ingresos / Gastos:</a:t>
              </a:r>
              <a:r>
                <a:rPr lang="es" sz="1085"/>
                <a:t> </a:t>
              </a:r>
              <a:r>
                <a:rPr b="0" lang="es" sz="698">
                  <a:solidFill>
                    <a:srgbClr val="10B981"/>
                  </a:solidFill>
                  <a:latin typeface="Montserrat SemiBold"/>
                  <a:ea typeface="Montserrat SemiBold"/>
                  <a:cs typeface="Montserrat SemiBold"/>
                  <a:sym typeface="Montserrat SemiBold"/>
                </a:rPr>
                <a:t>+$2,100.00 </a:t>
              </a:r>
              <a:r>
                <a:rPr b="0" lang="es" sz="698">
                  <a:solidFill>
                    <a:srgbClr val="EF4444"/>
                  </a:solidFill>
                  <a:latin typeface="Montserrat"/>
                  <a:ea typeface="Montserrat"/>
                  <a:cs typeface="Montserrat"/>
                  <a:sym typeface="Montserrat"/>
                </a:rPr>
                <a:t>/ -$850.00</a:t>
              </a:r>
              <a:endParaRPr sz="1085"/>
            </a:p>
            <a:p>
              <a:pPr indent="0" lvl="0" marL="0" rtl="0" algn="l">
                <a:spcBef>
                  <a:spcPts val="0"/>
                </a:spcBef>
                <a:spcAft>
                  <a:spcPts val="0"/>
                </a:spcAft>
                <a:buNone/>
              </a:pPr>
              <a:r>
                <a:rPr b="0" lang="es" sz="698">
                  <a:solidFill>
                    <a:srgbClr val="3B82F6"/>
                  </a:solidFill>
                  <a:latin typeface="Inter SemiBold"/>
                  <a:ea typeface="Inter SemiBold"/>
                  <a:cs typeface="Inter SemiBold"/>
                  <a:sym typeface="Inter SemiBold"/>
                </a:rPr>
                <a:t>Resultado del Mes:</a:t>
              </a:r>
              <a:r>
                <a:rPr lang="es" sz="1085"/>
                <a:t> </a:t>
              </a:r>
              <a:r>
                <a:rPr b="1" lang="es" sz="698">
                  <a:solidFill>
                    <a:srgbClr val="10B981"/>
                  </a:solidFill>
                  <a:latin typeface="Montserrat"/>
                  <a:ea typeface="Montserrat"/>
                  <a:cs typeface="Montserrat"/>
                  <a:sym typeface="Montserrat"/>
                </a:rPr>
                <a:t>+$1,250.00</a:t>
              </a:r>
              <a:endParaRPr sz="1085"/>
            </a:p>
          </p:txBody>
        </p:sp>
      </p:grpSp>
      <p:grpSp>
        <p:nvGrpSpPr>
          <p:cNvPr id="105" name="Google Shape;105;p15"/>
          <p:cNvGrpSpPr/>
          <p:nvPr/>
        </p:nvGrpSpPr>
        <p:grpSpPr>
          <a:xfrm>
            <a:off x="381000" y="4762500"/>
            <a:ext cx="8382000" cy="285750"/>
            <a:chOff x="381000" y="4762500"/>
            <a:chExt cx="8382000" cy="285750"/>
          </a:xfrm>
        </p:grpSpPr>
        <p:cxnSp>
          <p:nvCxnSpPr>
            <p:cNvPr id="106" name="Google Shape;106;p15"/>
            <p:cNvCxnSpPr/>
            <p:nvPr/>
          </p:nvCxnSpPr>
          <p:spPr>
            <a:xfrm>
              <a:off x="381000" y="476250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107" name="Google Shape;107;p15"/>
            <p:cNvSpPr txBox="1"/>
            <p:nvPr/>
          </p:nvSpPr>
          <p:spPr>
            <a:xfrm>
              <a:off x="381000" y="48577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CONFIDENCIAL - USO INTERNO</a:t>
              </a:r>
              <a:endParaRPr b="0" sz="900">
                <a:solidFill>
                  <a:srgbClr val="94A3B8"/>
                </a:solidFill>
                <a:latin typeface="Inter SemiBold"/>
                <a:ea typeface="Inter SemiBold"/>
                <a:cs typeface="Inter SemiBold"/>
                <a:sym typeface="Inter SemiBold"/>
              </a:endParaRPr>
            </a:p>
          </p:txBody>
        </p:sp>
        <p:sp>
          <p:nvSpPr>
            <p:cNvPr id="108" name="Google Shape;108;p15"/>
            <p:cNvSpPr txBox="1"/>
            <p:nvPr/>
          </p:nvSpPr>
          <p:spPr>
            <a:xfrm>
              <a:off x="7810500" y="4857750"/>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900">
                  <a:solidFill>
                    <a:srgbClr val="94A3B8"/>
                  </a:solidFill>
                  <a:latin typeface="Inter SemiBold"/>
                  <a:ea typeface="Inter SemiBold"/>
                  <a:cs typeface="Inter SemiBold"/>
                  <a:sym typeface="Inter SemiBold"/>
                </a:rPr>
                <a:t>2023-10-25</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6"/>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 name="Google Shape;116;p16"/>
          <p:cNvGrpSpPr/>
          <p:nvPr/>
        </p:nvGrpSpPr>
        <p:grpSpPr>
          <a:xfrm>
            <a:off x="309563" y="204311"/>
            <a:ext cx="1083469" cy="247650"/>
            <a:chOff x="95250" y="76200"/>
            <a:chExt cx="1666875" cy="381000"/>
          </a:xfrm>
        </p:grpSpPr>
        <p:sp>
          <p:nvSpPr>
            <p:cNvPr id="117" name="Google Shape;117;p16"/>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6"/>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400">
                  <a:solidFill>
                    <a:srgbClr val="F8FAFC"/>
                  </a:solidFill>
                  <a:latin typeface="Montserrat"/>
                  <a:ea typeface="Montserrat"/>
                  <a:cs typeface="Montserrat"/>
                  <a:sym typeface="Montserrat"/>
                </a:rPr>
                <a:t>FinApp</a:t>
              </a:r>
              <a:endParaRPr b="1" sz="1400">
                <a:solidFill>
                  <a:srgbClr val="F8FAFC"/>
                </a:solidFill>
                <a:latin typeface="Montserrat"/>
                <a:ea typeface="Montserrat"/>
                <a:cs typeface="Montserrat"/>
                <a:sym typeface="Montserrat"/>
              </a:endParaRPr>
            </a:p>
          </p:txBody>
        </p:sp>
      </p:grpSp>
      <p:sp>
        <p:nvSpPr>
          <p:cNvPr id="120" name="Google Shape;120;p16"/>
          <p:cNvSpPr txBox="1"/>
          <p:nvPr/>
        </p:nvSpPr>
        <p:spPr>
          <a:xfrm>
            <a:off x="381000" y="666750"/>
            <a:ext cx="8382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400">
                <a:solidFill>
                  <a:srgbClr val="F8FAFC"/>
                </a:solidFill>
                <a:latin typeface="Montserrat"/>
                <a:ea typeface="Montserrat"/>
                <a:cs typeface="Montserrat"/>
                <a:sym typeface="Montserrat"/>
              </a:rPr>
              <a:t>Bóvedas Compartidas</a:t>
            </a:r>
            <a:endParaRPr b="1" sz="2400">
              <a:solidFill>
                <a:srgbClr val="F8FAFC"/>
              </a:solidFill>
              <a:latin typeface="Montserrat"/>
              <a:ea typeface="Montserrat"/>
              <a:cs typeface="Montserrat"/>
              <a:sym typeface="Montserrat"/>
            </a:endParaRPr>
          </a:p>
          <a:p>
            <a:pPr indent="0" lvl="0" marL="0" rtl="0" algn="l">
              <a:spcBef>
                <a:spcPts val="450"/>
              </a:spcBef>
              <a:spcAft>
                <a:spcPts val="0"/>
              </a:spcAft>
              <a:buNone/>
            </a:pPr>
            <a:r>
              <a:rPr b="0" lang="es" sz="1400">
                <a:solidFill>
                  <a:srgbClr val="3B82F6"/>
                </a:solidFill>
                <a:latin typeface="Inter Medium"/>
                <a:ea typeface="Inter Medium"/>
                <a:cs typeface="Inter Medium"/>
                <a:sym typeface="Inter Medium"/>
              </a:rPr>
              <a:t>Revolucionando la Colaboración Financiera en Tiempo Real</a:t>
            </a:r>
            <a:endParaRPr b="0" sz="1400">
              <a:solidFill>
                <a:srgbClr val="3B82F6"/>
              </a:solidFill>
              <a:latin typeface="Inter Medium"/>
              <a:ea typeface="Inter Medium"/>
              <a:cs typeface="Inter Medium"/>
              <a:sym typeface="Inter Medium"/>
            </a:endParaRPr>
          </a:p>
        </p:txBody>
      </p:sp>
      <p:sp>
        <p:nvSpPr>
          <p:cNvPr id="121" name="Google Shape;121;p16"/>
          <p:cNvSpPr/>
          <p:nvPr/>
        </p:nvSpPr>
        <p:spPr>
          <a:xfrm>
            <a:off x="381000" y="1428750"/>
            <a:ext cx="4143300" cy="3143400"/>
          </a:xfrm>
          <a:prstGeom prst="roundRect">
            <a:avLst>
              <a:gd fmla="val 3636" name="adj"/>
            </a:avLst>
          </a:prstGeom>
          <a:solidFill>
            <a:srgbClr val="1E293B">
              <a:alpha val="6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6"/>
          <p:cNvSpPr txBox="1"/>
          <p:nvPr/>
        </p:nvSpPr>
        <p:spPr>
          <a:xfrm>
            <a:off x="523875" y="1571625"/>
            <a:ext cx="38577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3B82F6"/>
                </a:solidFill>
                <a:latin typeface="Inter SemiBold"/>
                <a:ea typeface="Inter SemiBold"/>
                <a:cs typeface="Inter SemiBold"/>
                <a:sym typeface="Inter SemiBold"/>
              </a:rPr>
              <a:t>CASOS DE USO ESTRATÉGICOS</a:t>
            </a:r>
            <a:endParaRPr b="0" sz="900">
              <a:solidFill>
                <a:srgbClr val="3B82F6"/>
              </a:solidFill>
              <a:latin typeface="Inter SemiBold"/>
              <a:ea typeface="Inter SemiBold"/>
              <a:cs typeface="Inter SemiBold"/>
              <a:sym typeface="Inter SemiBold"/>
            </a:endParaRPr>
          </a:p>
          <a:p>
            <a:pPr indent="0" lvl="0" marL="0" rtl="0" algn="l">
              <a:spcBef>
                <a:spcPts val="225"/>
              </a:spcBef>
              <a:spcAft>
                <a:spcPts val="0"/>
              </a:spcAft>
              <a:buNone/>
            </a:pPr>
            <a:r>
              <a:rPr b="0" lang="es" sz="1000">
                <a:solidFill>
                  <a:srgbClr val="F8FAFC"/>
                </a:solidFill>
                <a:latin typeface="Inter"/>
                <a:ea typeface="Inter"/>
                <a:cs typeface="Inter"/>
                <a:sym typeface="Inter"/>
              </a:rPr>
              <a:t>Optimizado para finanzas de parejas que comparten gastos del hogar, roomies que dividen alquiler y servicios, socios comerciales con fondos de proyectos conjuntos, o grupos de amigos organizando viajes.</a:t>
            </a:r>
            <a:endParaRPr b="0" sz="1000">
              <a:solidFill>
                <a:srgbClr val="F8FAFC"/>
              </a:solidFill>
              <a:latin typeface="Inter"/>
              <a:ea typeface="Inter"/>
              <a:cs typeface="Inter"/>
              <a:sym typeface="Inter"/>
            </a:endParaRPr>
          </a:p>
          <a:p>
            <a:pPr indent="0" lvl="0" marL="0" rtl="0" algn="l">
              <a:spcBef>
                <a:spcPts val="1050"/>
              </a:spcBef>
              <a:spcAft>
                <a:spcPts val="0"/>
              </a:spcAft>
              <a:buNone/>
            </a:pPr>
            <a:r>
              <a:rPr b="0" lang="es" sz="900">
                <a:solidFill>
                  <a:srgbClr val="10B981"/>
                </a:solidFill>
                <a:latin typeface="Inter SemiBold"/>
                <a:ea typeface="Inter SemiBold"/>
                <a:cs typeface="Inter SemiBold"/>
                <a:sym typeface="Inter SemiBold"/>
              </a:rPr>
              <a:t>SOPORTE MULTIDIVISA INTERNACIONAL</a:t>
            </a:r>
            <a:endParaRPr b="0" sz="900">
              <a:solidFill>
                <a:srgbClr val="10B981"/>
              </a:solidFill>
              <a:latin typeface="Inter SemiBold"/>
              <a:ea typeface="Inter SemiBold"/>
              <a:cs typeface="Inter SemiBold"/>
              <a:sym typeface="Inter SemiBold"/>
            </a:endParaRPr>
          </a:p>
          <a:p>
            <a:pPr indent="0" lvl="0" marL="0" rtl="0" algn="l">
              <a:spcBef>
                <a:spcPts val="225"/>
              </a:spcBef>
              <a:spcAft>
                <a:spcPts val="0"/>
              </a:spcAft>
              <a:buNone/>
            </a:pPr>
            <a:r>
              <a:rPr b="0" lang="es" sz="1000">
                <a:solidFill>
                  <a:srgbClr val="F8FAFC"/>
                </a:solidFill>
                <a:latin typeface="Inter"/>
                <a:ea typeface="Inter"/>
                <a:cs typeface="Inter"/>
                <a:sym typeface="Inter"/>
              </a:rPr>
              <a:t>Operación y registro nativo en Pesos Argentinos (ARS), Dólares Estadounidenses (USD), Euros (EUR), Reales Brasileños (BRL), Pesos Chilenos (CLP), Pesos Uruguayos (UYU), Pesos Colombianos (COP) y Pesos Mexicanos (MXN).</a:t>
            </a:r>
            <a:endParaRPr b="0" sz="1000">
              <a:solidFill>
                <a:srgbClr val="F8FAFC"/>
              </a:solidFill>
              <a:latin typeface="Inter"/>
              <a:ea typeface="Inter"/>
              <a:cs typeface="Inter"/>
              <a:sym typeface="Inter"/>
            </a:endParaRPr>
          </a:p>
          <a:p>
            <a:pPr indent="0" lvl="0" marL="0" rtl="0" algn="l">
              <a:spcBef>
                <a:spcPts val="1050"/>
              </a:spcBef>
              <a:spcAft>
                <a:spcPts val="0"/>
              </a:spcAft>
              <a:buNone/>
            </a:pPr>
            <a:r>
              <a:rPr b="0" lang="es" sz="900">
                <a:solidFill>
                  <a:srgbClr val="3B82F6"/>
                </a:solidFill>
                <a:latin typeface="Inter SemiBold"/>
                <a:ea typeface="Inter SemiBold"/>
                <a:cs typeface="Inter SemiBold"/>
                <a:sym typeface="Inter SemiBold"/>
              </a:rPr>
              <a:t>GESTIÓN DE INVITACIONES Y TRANSPARENCIA TOTAL</a:t>
            </a:r>
            <a:endParaRPr b="0" sz="900">
              <a:solidFill>
                <a:srgbClr val="3B82F6"/>
              </a:solidFill>
              <a:latin typeface="Inter SemiBold"/>
              <a:ea typeface="Inter SemiBold"/>
              <a:cs typeface="Inter SemiBold"/>
              <a:sym typeface="Inter SemiBold"/>
            </a:endParaRPr>
          </a:p>
          <a:p>
            <a:pPr indent="0" lvl="0" marL="0" rtl="0" algn="l">
              <a:spcBef>
                <a:spcPts val="225"/>
              </a:spcBef>
              <a:spcAft>
                <a:spcPts val="0"/>
              </a:spcAft>
              <a:buNone/>
            </a:pPr>
            <a:r>
              <a:rPr b="0" lang="es" sz="1000">
                <a:solidFill>
                  <a:srgbClr val="F8FAFC"/>
                </a:solidFill>
                <a:latin typeface="Inter"/>
                <a:ea typeface="Inter"/>
                <a:cs typeface="Inter"/>
                <a:sym typeface="Inter"/>
              </a:rPr>
              <a:t>Invitaciones directas por email. El algoritmo de FinApp rastrea y consolida exactamente quién aportó qué cantidad, eliminando las confusiones típicas de las finanzas grupales.</a:t>
            </a:r>
            <a:endParaRPr b="0" sz="1000">
              <a:solidFill>
                <a:srgbClr val="F8FAFC"/>
              </a:solidFill>
              <a:latin typeface="Inter"/>
              <a:ea typeface="Inter"/>
              <a:cs typeface="Inter"/>
              <a:sym typeface="Inter"/>
            </a:endParaRPr>
          </a:p>
        </p:txBody>
      </p:sp>
      <p:sp>
        <p:nvSpPr>
          <p:cNvPr id="123" name="Google Shape;123;p16"/>
          <p:cNvSpPr/>
          <p:nvPr/>
        </p:nvSpPr>
        <p:spPr>
          <a:xfrm>
            <a:off x="4714875" y="1428750"/>
            <a:ext cx="4048200" cy="3143400"/>
          </a:xfrm>
          <a:prstGeom prst="roundRect">
            <a:avLst>
              <a:gd fmla="val 3636" name="adj"/>
            </a:avLst>
          </a:prstGeom>
          <a:solidFill>
            <a:srgbClr val="1E293B">
              <a:alpha val="85000"/>
            </a:srgbClr>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4905375" y="1571625"/>
            <a:ext cx="2190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765">
                <a:solidFill>
                  <a:srgbClr val="3B82F6"/>
                </a:solidFill>
                <a:latin typeface="Inter SemiBold"/>
                <a:ea typeface="Inter SemiBold"/>
                <a:cs typeface="Inter SemiBold"/>
                <a:sym typeface="Inter SemiBold"/>
              </a:rPr>
              <a:t>BÓVEDA COMPARTIDA ACTIVA</a:t>
            </a:r>
            <a:endParaRPr b="0" sz="765">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1" lang="es" sz="1275">
                <a:solidFill>
                  <a:srgbClr val="F8FAFC"/>
                </a:solidFill>
                <a:latin typeface="Montserrat"/>
                <a:ea typeface="Montserrat"/>
                <a:cs typeface="Montserrat"/>
                <a:sym typeface="Montserrat"/>
              </a:rPr>
              <a:t>Fondo Proyectos &amp; Viajes</a:t>
            </a:r>
            <a:endParaRPr b="1" sz="1275">
              <a:solidFill>
                <a:srgbClr val="F8FAFC"/>
              </a:solidFill>
              <a:latin typeface="Montserrat"/>
              <a:ea typeface="Montserrat"/>
              <a:cs typeface="Montserrat"/>
              <a:sym typeface="Montserrat"/>
            </a:endParaRPr>
          </a:p>
        </p:txBody>
      </p:sp>
      <p:sp>
        <p:nvSpPr>
          <p:cNvPr id="125" name="Google Shape;125;p16"/>
          <p:cNvSpPr/>
          <p:nvPr/>
        </p:nvSpPr>
        <p:spPr>
          <a:xfrm>
            <a:off x="7286625" y="1571625"/>
            <a:ext cx="1285800" cy="247800"/>
          </a:xfrm>
          <a:prstGeom prst="roundRect">
            <a:avLst>
              <a:gd fmla="val 50000" name="adj"/>
            </a:avLst>
          </a:prstGeom>
          <a:solidFill>
            <a:srgbClr val="10B981">
              <a:alpha val="15000"/>
            </a:srgbClr>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p:nvPr/>
        </p:nvSpPr>
        <p:spPr>
          <a:xfrm>
            <a:off x="7391400" y="16573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7524750" y="1619250"/>
            <a:ext cx="1000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0">
                <a:solidFill>
                  <a:srgbClr val="10B981"/>
                </a:solidFill>
                <a:latin typeface="Inter SemiBold"/>
                <a:ea typeface="Inter SemiBold"/>
                <a:cs typeface="Inter SemiBold"/>
                <a:sym typeface="Inter SemiBold"/>
              </a:rPr>
              <a:t>EN TIEMPO REAL</a:t>
            </a:r>
            <a:endParaRPr b="0" sz="800">
              <a:solidFill>
                <a:srgbClr val="10B981"/>
              </a:solidFill>
              <a:latin typeface="Inter SemiBold"/>
              <a:ea typeface="Inter SemiBold"/>
              <a:cs typeface="Inter SemiBold"/>
              <a:sym typeface="Inter SemiBold"/>
            </a:endParaRPr>
          </a:p>
        </p:txBody>
      </p:sp>
      <p:sp>
        <p:nvSpPr>
          <p:cNvPr id="128" name="Google Shape;128;p16"/>
          <p:cNvSpPr txBox="1"/>
          <p:nvPr/>
        </p:nvSpPr>
        <p:spPr>
          <a:xfrm>
            <a:off x="4905375" y="2047875"/>
            <a:ext cx="36672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SALDO TOTAL CONSOLIDADO</a:t>
            </a:r>
            <a:endParaRPr b="0" sz="900">
              <a:solidFill>
                <a:srgbClr val="94A3B8"/>
              </a:solidFill>
              <a:latin typeface="Inter SemiBold"/>
              <a:ea typeface="Inter SemiBold"/>
              <a:cs typeface="Inter SemiBold"/>
              <a:sym typeface="Inter SemiBold"/>
            </a:endParaRPr>
          </a:p>
          <a:p>
            <a:pPr indent="0" lvl="0" marL="0" rtl="0" algn="l">
              <a:spcBef>
                <a:spcPts val="0"/>
              </a:spcBef>
              <a:spcAft>
                <a:spcPts val="0"/>
              </a:spcAft>
              <a:buNone/>
            </a:pPr>
            <a:r>
              <a:rPr b="1" lang="es" sz="2400">
                <a:solidFill>
                  <a:srgbClr val="10B981"/>
                </a:solidFill>
                <a:latin typeface="Montserrat"/>
                <a:ea typeface="Montserrat"/>
                <a:cs typeface="Montserrat"/>
                <a:sym typeface="Montserrat"/>
              </a:rPr>
              <a:t>$18,450.00</a:t>
            </a:r>
            <a:endParaRPr b="1" sz="2400">
              <a:solidFill>
                <a:srgbClr val="10B981"/>
              </a:solidFill>
              <a:latin typeface="Montserrat"/>
              <a:ea typeface="Montserrat"/>
              <a:cs typeface="Montserrat"/>
              <a:sym typeface="Montserrat"/>
            </a:endParaRPr>
          </a:p>
        </p:txBody>
      </p:sp>
      <p:grpSp>
        <p:nvGrpSpPr>
          <p:cNvPr id="129" name="Google Shape;129;p16"/>
          <p:cNvGrpSpPr/>
          <p:nvPr/>
        </p:nvGrpSpPr>
        <p:grpSpPr>
          <a:xfrm>
            <a:off x="4905375" y="2619375"/>
            <a:ext cx="933450" cy="304800"/>
            <a:chOff x="0" y="0"/>
            <a:chExt cx="933450" cy="304800"/>
          </a:xfrm>
        </p:grpSpPr>
        <p:sp>
          <p:nvSpPr>
            <p:cNvPr id="130" name="Google Shape;130;p16"/>
            <p:cNvSpPr/>
            <p:nvPr/>
          </p:nvSpPr>
          <p:spPr>
            <a:xfrm>
              <a:off x="0" y="0"/>
              <a:ext cx="304800" cy="304800"/>
            </a:xfrm>
            <a:prstGeom prst="ellipse">
              <a:avLst/>
            </a:prstGeom>
            <a:solidFill>
              <a:srgbClr val="3B82F6"/>
            </a:solidFill>
            <a:ln cap="flat" cmpd="sng" w="19050">
              <a:solidFill>
                <a:srgbClr val="0F17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p:nvPr/>
          </p:nvSpPr>
          <p:spPr>
            <a:xfrm>
              <a:off x="209550" y="0"/>
              <a:ext cx="304800" cy="304800"/>
            </a:xfrm>
            <a:prstGeom prst="ellipse">
              <a:avLst/>
            </a:prstGeom>
            <a:solidFill>
              <a:srgbClr val="10B981"/>
            </a:solidFill>
            <a:ln cap="flat" cmpd="sng" w="19050">
              <a:solidFill>
                <a:srgbClr val="0F17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419100" y="0"/>
              <a:ext cx="304800" cy="304800"/>
            </a:xfrm>
            <a:prstGeom prst="ellipse">
              <a:avLst/>
            </a:prstGeom>
            <a:solidFill>
              <a:srgbClr val="F59E0B"/>
            </a:solidFill>
            <a:ln cap="flat" cmpd="sng" w="19050">
              <a:solidFill>
                <a:srgbClr val="0F17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p:nvPr/>
          </p:nvSpPr>
          <p:spPr>
            <a:xfrm>
              <a:off x="628650" y="0"/>
              <a:ext cx="304800" cy="304800"/>
            </a:xfrm>
            <a:prstGeom prst="ellipse">
              <a:avLst/>
            </a:prstGeom>
            <a:solidFill>
              <a:srgbClr val="334155"/>
            </a:solidFill>
            <a:ln cap="flat" cmpd="sng" w="19050">
              <a:solidFill>
                <a:srgbClr val="0F17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685800" y="57150"/>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00">
                  <a:solidFill>
                    <a:srgbClr val="FFFFFF"/>
                  </a:solidFill>
                  <a:latin typeface="Inter SemiBold"/>
                  <a:ea typeface="Inter SemiBold"/>
                  <a:cs typeface="Inter SemiBold"/>
                  <a:sym typeface="Inter SemiBold"/>
                </a:rPr>
                <a:t>+4</a:t>
              </a:r>
              <a:endParaRPr b="0" sz="800">
                <a:solidFill>
                  <a:srgbClr val="FFFFFF"/>
                </a:solidFill>
                <a:latin typeface="Inter SemiBold"/>
                <a:ea typeface="Inter SemiBold"/>
                <a:cs typeface="Inter SemiBold"/>
                <a:sym typeface="Inter SemiBold"/>
              </a:endParaRPr>
            </a:p>
          </p:txBody>
        </p:sp>
      </p:grpSp>
      <p:sp>
        <p:nvSpPr>
          <p:cNvPr id="135" name="Google Shape;135;p16"/>
          <p:cNvSpPr txBox="1"/>
          <p:nvPr/>
        </p:nvSpPr>
        <p:spPr>
          <a:xfrm>
            <a:off x="6000750" y="2619375"/>
            <a:ext cx="25719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F8FAFC"/>
                </a:solidFill>
                <a:latin typeface="Inter SemiBold"/>
                <a:ea typeface="Inter SemiBold"/>
                <a:cs typeface="Inter SemiBold"/>
                <a:sym typeface="Inter SemiBold"/>
              </a:rPr>
              <a:t>Colaboradores Activos</a:t>
            </a:r>
            <a:endParaRPr b="0" sz="1000">
              <a:solidFill>
                <a:srgbClr val="F8FAFC"/>
              </a:solidFill>
              <a:latin typeface="Inter SemiBold"/>
              <a:ea typeface="Inter SemiBold"/>
              <a:cs typeface="Inter SemiBold"/>
              <a:sym typeface="Inter SemiBold"/>
            </a:endParaRPr>
          </a:p>
          <a:p>
            <a:pPr indent="0" lvl="0" marL="0" rtl="0" algn="l">
              <a:spcBef>
                <a:spcPts val="0"/>
              </a:spcBef>
              <a:spcAft>
                <a:spcPts val="0"/>
              </a:spcAft>
              <a:buNone/>
            </a:pPr>
            <a:r>
              <a:rPr b="0" lang="es" sz="850">
                <a:solidFill>
                  <a:srgbClr val="94A3B8"/>
                </a:solidFill>
                <a:latin typeface="Inter"/>
                <a:ea typeface="Inter"/>
                <a:cs typeface="Inter"/>
                <a:sym typeface="Inter"/>
              </a:rPr>
              <a:t>Invitaciones directas por email integradas</a:t>
            </a:r>
            <a:endParaRPr b="0" sz="850">
              <a:solidFill>
                <a:srgbClr val="94A3B8"/>
              </a:solidFill>
              <a:latin typeface="Inter"/>
              <a:ea typeface="Inter"/>
              <a:cs typeface="Inter"/>
              <a:sym typeface="Inter"/>
            </a:endParaRPr>
          </a:p>
        </p:txBody>
      </p:sp>
      <p:cxnSp>
        <p:nvCxnSpPr>
          <p:cNvPr id="136" name="Google Shape;136;p16"/>
          <p:cNvCxnSpPr/>
          <p:nvPr/>
        </p:nvCxnSpPr>
        <p:spPr>
          <a:xfrm>
            <a:off x="4905375" y="3067050"/>
            <a:ext cx="36672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137" name="Google Shape;137;p16"/>
          <p:cNvSpPr txBox="1"/>
          <p:nvPr/>
        </p:nvSpPr>
        <p:spPr>
          <a:xfrm>
            <a:off x="4905375" y="3143250"/>
            <a:ext cx="36672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0">
                <a:solidFill>
                  <a:srgbClr val="94A3B8"/>
                </a:solidFill>
                <a:latin typeface="Inter SemiBold"/>
                <a:ea typeface="Inter SemiBold"/>
                <a:cs typeface="Inter SemiBold"/>
                <a:sym typeface="Inter SemiBold"/>
              </a:rPr>
              <a:t>DIVISAS DE OPERACIÓN NATIVA</a:t>
            </a:r>
            <a:endParaRPr b="0" sz="800">
              <a:solidFill>
                <a:srgbClr val="94A3B8"/>
              </a:solidFill>
              <a:latin typeface="Inter SemiBold"/>
              <a:ea typeface="Inter SemiBold"/>
              <a:cs typeface="Inter SemiBold"/>
              <a:sym typeface="Inter SemiBold"/>
            </a:endParaRPr>
          </a:p>
        </p:txBody>
      </p:sp>
      <p:grpSp>
        <p:nvGrpSpPr>
          <p:cNvPr id="138" name="Google Shape;138;p16"/>
          <p:cNvGrpSpPr/>
          <p:nvPr/>
        </p:nvGrpSpPr>
        <p:grpSpPr>
          <a:xfrm>
            <a:off x="4905375" y="3352800"/>
            <a:ext cx="3476550" cy="228600"/>
            <a:chOff x="0" y="0"/>
            <a:chExt cx="3476550" cy="228600"/>
          </a:xfrm>
        </p:grpSpPr>
        <p:sp>
          <p:nvSpPr>
            <p:cNvPr id="139" name="Google Shape;139;p16"/>
            <p:cNvSpPr/>
            <p:nvPr/>
          </p:nvSpPr>
          <p:spPr>
            <a:xfrm>
              <a:off x="0" y="0"/>
              <a:ext cx="523800" cy="228600"/>
            </a:xfrm>
            <a:prstGeom prst="roundRect">
              <a:avLst>
                <a:gd fmla="val 50000" name="adj"/>
              </a:avLst>
            </a:prstGeom>
            <a:solidFill>
              <a:srgbClr val="3B82F6"/>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txBox="1"/>
            <p:nvPr/>
          </p:nvSpPr>
          <p:spPr>
            <a:xfrm>
              <a:off x="0" y="28575"/>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FFFFFF"/>
                  </a:solidFill>
                  <a:latin typeface="Inter SemiBold"/>
                  <a:ea typeface="Inter SemiBold"/>
                  <a:cs typeface="Inter SemiBold"/>
                  <a:sym typeface="Inter SemiBold"/>
                </a:rPr>
                <a:t>ARS</a:t>
              </a:r>
              <a:endParaRPr b="0" sz="850">
                <a:solidFill>
                  <a:srgbClr val="FFFFFF"/>
                </a:solidFill>
                <a:latin typeface="Inter SemiBold"/>
                <a:ea typeface="Inter SemiBold"/>
                <a:cs typeface="Inter SemiBold"/>
                <a:sym typeface="Inter SemiBold"/>
              </a:endParaRPr>
            </a:p>
          </p:txBody>
        </p:sp>
        <p:sp>
          <p:nvSpPr>
            <p:cNvPr id="141" name="Google Shape;141;p16"/>
            <p:cNvSpPr/>
            <p:nvPr/>
          </p:nvSpPr>
          <p:spPr>
            <a:xfrm>
              <a:off x="590550" y="0"/>
              <a:ext cx="523800" cy="228600"/>
            </a:xfrm>
            <a:prstGeom prst="roundRect">
              <a:avLst>
                <a:gd fmla="val 50000" name="adj"/>
              </a:avLst>
            </a:prstGeom>
            <a:solidFill>
              <a:srgbClr val="1E293B"/>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590550" y="28575"/>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F8FAFC"/>
                  </a:solidFill>
                  <a:latin typeface="Inter"/>
                  <a:ea typeface="Inter"/>
                  <a:cs typeface="Inter"/>
                  <a:sym typeface="Inter"/>
                </a:rPr>
                <a:t>USD</a:t>
              </a:r>
              <a:endParaRPr b="0" sz="850">
                <a:solidFill>
                  <a:srgbClr val="F8FAFC"/>
                </a:solidFill>
                <a:latin typeface="Inter"/>
                <a:ea typeface="Inter"/>
                <a:cs typeface="Inter"/>
                <a:sym typeface="Inter"/>
              </a:endParaRPr>
            </a:p>
          </p:txBody>
        </p:sp>
        <p:sp>
          <p:nvSpPr>
            <p:cNvPr id="143" name="Google Shape;143;p16"/>
            <p:cNvSpPr/>
            <p:nvPr/>
          </p:nvSpPr>
          <p:spPr>
            <a:xfrm>
              <a:off x="1181100" y="0"/>
              <a:ext cx="523800" cy="228600"/>
            </a:xfrm>
            <a:prstGeom prst="roundRect">
              <a:avLst>
                <a:gd fmla="val 50000" name="adj"/>
              </a:avLst>
            </a:prstGeom>
            <a:solidFill>
              <a:srgbClr val="1E293B"/>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txBox="1"/>
            <p:nvPr/>
          </p:nvSpPr>
          <p:spPr>
            <a:xfrm>
              <a:off x="1181100" y="28575"/>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F8FAFC"/>
                  </a:solidFill>
                  <a:latin typeface="Inter"/>
                  <a:ea typeface="Inter"/>
                  <a:cs typeface="Inter"/>
                  <a:sym typeface="Inter"/>
                </a:rPr>
                <a:t>EUR</a:t>
              </a:r>
              <a:endParaRPr b="0" sz="850">
                <a:solidFill>
                  <a:srgbClr val="F8FAFC"/>
                </a:solidFill>
                <a:latin typeface="Inter"/>
                <a:ea typeface="Inter"/>
                <a:cs typeface="Inter"/>
                <a:sym typeface="Inter"/>
              </a:endParaRPr>
            </a:p>
          </p:txBody>
        </p:sp>
        <p:sp>
          <p:nvSpPr>
            <p:cNvPr id="145" name="Google Shape;145;p16"/>
            <p:cNvSpPr/>
            <p:nvPr/>
          </p:nvSpPr>
          <p:spPr>
            <a:xfrm>
              <a:off x="1771650" y="0"/>
              <a:ext cx="523800" cy="228600"/>
            </a:xfrm>
            <a:prstGeom prst="roundRect">
              <a:avLst>
                <a:gd fmla="val 50000" name="adj"/>
              </a:avLst>
            </a:prstGeom>
            <a:solidFill>
              <a:srgbClr val="1E293B"/>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txBox="1"/>
            <p:nvPr/>
          </p:nvSpPr>
          <p:spPr>
            <a:xfrm>
              <a:off x="1771650" y="28575"/>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F8FAFC"/>
                  </a:solidFill>
                  <a:latin typeface="Inter"/>
                  <a:ea typeface="Inter"/>
                  <a:cs typeface="Inter"/>
                  <a:sym typeface="Inter"/>
                </a:rPr>
                <a:t>BRL</a:t>
              </a:r>
              <a:endParaRPr b="0" sz="850">
                <a:solidFill>
                  <a:srgbClr val="F8FAFC"/>
                </a:solidFill>
                <a:latin typeface="Inter"/>
                <a:ea typeface="Inter"/>
                <a:cs typeface="Inter"/>
                <a:sym typeface="Inter"/>
              </a:endParaRPr>
            </a:p>
          </p:txBody>
        </p:sp>
        <p:sp>
          <p:nvSpPr>
            <p:cNvPr id="147" name="Google Shape;147;p16"/>
            <p:cNvSpPr/>
            <p:nvPr/>
          </p:nvSpPr>
          <p:spPr>
            <a:xfrm>
              <a:off x="2362200" y="0"/>
              <a:ext cx="523800" cy="228600"/>
            </a:xfrm>
            <a:prstGeom prst="roundRect">
              <a:avLst>
                <a:gd fmla="val 50000" name="adj"/>
              </a:avLst>
            </a:prstGeom>
            <a:solidFill>
              <a:srgbClr val="1E293B"/>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txBox="1"/>
            <p:nvPr/>
          </p:nvSpPr>
          <p:spPr>
            <a:xfrm>
              <a:off x="2362200" y="28575"/>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F8FAFC"/>
                  </a:solidFill>
                  <a:latin typeface="Inter"/>
                  <a:ea typeface="Inter"/>
                  <a:cs typeface="Inter"/>
                  <a:sym typeface="Inter"/>
                </a:rPr>
                <a:t>MXN</a:t>
              </a:r>
              <a:endParaRPr b="0" sz="850">
                <a:solidFill>
                  <a:srgbClr val="F8FAFC"/>
                </a:solidFill>
                <a:latin typeface="Inter"/>
                <a:ea typeface="Inter"/>
                <a:cs typeface="Inter"/>
                <a:sym typeface="Inter"/>
              </a:endParaRPr>
            </a:p>
          </p:txBody>
        </p:sp>
        <p:sp>
          <p:nvSpPr>
            <p:cNvPr id="149" name="Google Shape;149;p16"/>
            <p:cNvSpPr/>
            <p:nvPr/>
          </p:nvSpPr>
          <p:spPr>
            <a:xfrm>
              <a:off x="2952750" y="0"/>
              <a:ext cx="523800" cy="228600"/>
            </a:xfrm>
            <a:prstGeom prst="roundRect">
              <a:avLst>
                <a:gd fmla="val 50000" name="adj"/>
              </a:avLst>
            </a:prstGeom>
            <a:solidFill>
              <a:srgbClr val="1E293B"/>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6"/>
            <p:cNvSpPr txBox="1"/>
            <p:nvPr/>
          </p:nvSpPr>
          <p:spPr>
            <a:xfrm>
              <a:off x="2952750" y="28575"/>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F8FAFC"/>
                  </a:solidFill>
                  <a:latin typeface="Inter"/>
                  <a:ea typeface="Inter"/>
                  <a:cs typeface="Inter"/>
                  <a:sym typeface="Inter"/>
                </a:rPr>
                <a:t>CLP</a:t>
              </a:r>
              <a:endParaRPr b="0" sz="850">
                <a:solidFill>
                  <a:srgbClr val="F8FAFC"/>
                </a:solidFill>
                <a:latin typeface="Inter"/>
                <a:ea typeface="Inter"/>
                <a:cs typeface="Inter"/>
                <a:sym typeface="Inter"/>
              </a:endParaRPr>
            </a:p>
          </p:txBody>
        </p:sp>
      </p:grpSp>
      <p:grpSp>
        <p:nvGrpSpPr>
          <p:cNvPr id="151" name="Google Shape;151;p16"/>
          <p:cNvGrpSpPr/>
          <p:nvPr/>
        </p:nvGrpSpPr>
        <p:grpSpPr>
          <a:xfrm>
            <a:off x="4905375" y="3762375"/>
            <a:ext cx="3667200" cy="352500"/>
            <a:chOff x="0" y="0"/>
            <a:chExt cx="3667200" cy="352500"/>
          </a:xfrm>
        </p:grpSpPr>
        <p:sp>
          <p:nvSpPr>
            <p:cNvPr id="152" name="Google Shape;152;p16"/>
            <p:cNvSpPr/>
            <p:nvPr/>
          </p:nvSpPr>
          <p:spPr>
            <a:xfrm>
              <a:off x="0" y="0"/>
              <a:ext cx="3667200" cy="573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6"/>
            <p:cNvSpPr/>
            <p:nvPr/>
          </p:nvSpPr>
          <p:spPr>
            <a:xfrm>
              <a:off x="0" y="0"/>
              <a:ext cx="1524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6"/>
            <p:cNvSpPr/>
            <p:nvPr/>
          </p:nvSpPr>
          <p:spPr>
            <a:xfrm>
              <a:off x="1524000" y="0"/>
              <a:ext cx="10479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p:nvPr/>
          </p:nvSpPr>
          <p:spPr>
            <a:xfrm>
              <a:off x="2571750" y="0"/>
              <a:ext cx="619200" cy="573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0" y="114300"/>
              <a:ext cx="36672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0">
                  <a:solidFill>
                    <a:srgbClr val="94A3B8"/>
                  </a:solidFill>
                  <a:latin typeface="Inter"/>
                  <a:ea typeface="Inter"/>
                  <a:cs typeface="Inter"/>
                  <a:sym typeface="Inter"/>
                </a:rPr>
                <a:t>Algoritmo FinApp: Rastreo y consolidación exacta por participante</a:t>
              </a:r>
              <a:endParaRPr b="0" sz="800">
                <a:solidFill>
                  <a:srgbClr val="94A3B8"/>
                </a:solidFill>
                <a:latin typeface="Inter"/>
                <a:ea typeface="Inter"/>
                <a:cs typeface="Inter"/>
                <a:sym typeface="Inter"/>
              </a:endParaRPr>
            </a:p>
          </p:txBody>
        </p:sp>
      </p:grpSp>
      <p:grpSp>
        <p:nvGrpSpPr>
          <p:cNvPr id="157" name="Google Shape;157;p16"/>
          <p:cNvGrpSpPr/>
          <p:nvPr/>
        </p:nvGrpSpPr>
        <p:grpSpPr>
          <a:xfrm>
            <a:off x="381000" y="4762500"/>
            <a:ext cx="8382000" cy="285750"/>
            <a:chOff x="381000" y="4762500"/>
            <a:chExt cx="8382000" cy="285750"/>
          </a:xfrm>
        </p:grpSpPr>
        <p:cxnSp>
          <p:nvCxnSpPr>
            <p:cNvPr id="158" name="Google Shape;158;p16"/>
            <p:cNvCxnSpPr/>
            <p:nvPr/>
          </p:nvCxnSpPr>
          <p:spPr>
            <a:xfrm>
              <a:off x="381000" y="476250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159" name="Google Shape;159;p16"/>
            <p:cNvSpPr txBox="1"/>
            <p:nvPr/>
          </p:nvSpPr>
          <p:spPr>
            <a:xfrm>
              <a:off x="381000" y="48577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CONFIDENCIAL - USO INTERNO</a:t>
              </a:r>
              <a:endParaRPr b="0" sz="900">
                <a:solidFill>
                  <a:srgbClr val="94A3B8"/>
                </a:solidFill>
                <a:latin typeface="Inter SemiBold"/>
                <a:ea typeface="Inter SemiBold"/>
                <a:cs typeface="Inter SemiBold"/>
                <a:sym typeface="Inter SemiBold"/>
              </a:endParaRPr>
            </a:p>
          </p:txBody>
        </p:sp>
        <p:sp>
          <p:nvSpPr>
            <p:cNvPr id="160" name="Google Shape;160;p16"/>
            <p:cNvSpPr txBox="1"/>
            <p:nvPr/>
          </p:nvSpPr>
          <p:spPr>
            <a:xfrm>
              <a:off x="7810500" y="4857750"/>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900">
                  <a:solidFill>
                    <a:srgbClr val="94A3B8"/>
                  </a:solidFill>
                  <a:latin typeface="Inter SemiBold"/>
                  <a:ea typeface="Inter SemiBold"/>
                  <a:cs typeface="Inter SemiBold"/>
                  <a:sym typeface="Inter SemiBold"/>
                </a:rPr>
                <a:t>2023-10-25</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17"/>
          <p:cNvGrpSpPr/>
          <p:nvPr/>
        </p:nvGrpSpPr>
        <p:grpSpPr>
          <a:xfrm>
            <a:off x="0" y="0"/>
            <a:ext cx="9144000" cy="5143500"/>
            <a:chOff x="0" y="0"/>
            <a:chExt cx="9144000" cy="5143500"/>
          </a:xfrm>
        </p:grpSpPr>
        <p:sp>
          <p:nvSpPr>
            <p:cNvPr id="166" name="Google Shape;166;p17"/>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7"/>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9" name="Google Shape;169;p17"/>
          <p:cNvGrpSpPr/>
          <p:nvPr/>
        </p:nvGrpSpPr>
        <p:grpSpPr>
          <a:xfrm>
            <a:off x="309563" y="173355"/>
            <a:ext cx="1083469" cy="247650"/>
            <a:chOff x="95250" y="76200"/>
            <a:chExt cx="1666875" cy="381000"/>
          </a:xfrm>
        </p:grpSpPr>
        <p:sp>
          <p:nvSpPr>
            <p:cNvPr id="170" name="Google Shape;170;p17"/>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7"/>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7"/>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400">
                  <a:solidFill>
                    <a:srgbClr val="F8FAFC"/>
                  </a:solidFill>
                  <a:latin typeface="Montserrat"/>
                  <a:ea typeface="Montserrat"/>
                  <a:cs typeface="Montserrat"/>
                  <a:sym typeface="Montserrat"/>
                </a:rPr>
                <a:t>FinApp</a:t>
              </a:r>
              <a:endParaRPr b="1" sz="1400">
                <a:solidFill>
                  <a:srgbClr val="F8FAFC"/>
                </a:solidFill>
                <a:latin typeface="Montserrat"/>
                <a:ea typeface="Montserrat"/>
                <a:cs typeface="Montserrat"/>
                <a:sym typeface="Montserrat"/>
              </a:endParaRPr>
            </a:p>
          </p:txBody>
        </p:sp>
      </p:grpSp>
      <p:sp>
        <p:nvSpPr>
          <p:cNvPr id="173" name="Google Shape;173;p17"/>
          <p:cNvSpPr txBox="1"/>
          <p:nvPr/>
        </p:nvSpPr>
        <p:spPr>
          <a:xfrm>
            <a:off x="381000" y="590550"/>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200">
                <a:solidFill>
                  <a:srgbClr val="F8FAFC"/>
                </a:solidFill>
                <a:latin typeface="Montserrat"/>
                <a:ea typeface="Montserrat"/>
                <a:cs typeface="Montserrat"/>
                <a:sym typeface="Montserrat"/>
              </a:rPr>
              <a:t>Carga Rápida y Clasificación Inteligente</a:t>
            </a:r>
            <a:endParaRPr b="1" sz="2200">
              <a:solidFill>
                <a:srgbClr val="F8FAFC"/>
              </a:solidFill>
              <a:latin typeface="Montserrat"/>
              <a:ea typeface="Montserrat"/>
              <a:cs typeface="Montserrat"/>
              <a:sym typeface="Montserrat"/>
            </a:endParaRPr>
          </a:p>
          <a:p>
            <a:pPr indent="0" lvl="0" marL="0" rtl="0" algn="l">
              <a:spcBef>
                <a:spcPts val="300"/>
              </a:spcBef>
              <a:spcAft>
                <a:spcPts val="0"/>
              </a:spcAft>
              <a:buNone/>
            </a:pPr>
            <a:r>
              <a:rPr b="0" lang="es" sz="1300">
                <a:solidFill>
                  <a:srgbClr val="10B981"/>
                </a:solidFill>
                <a:latin typeface="Inter Medium"/>
                <a:ea typeface="Inter Medium"/>
                <a:cs typeface="Inter Medium"/>
                <a:sym typeface="Inter Medium"/>
              </a:rPr>
              <a:t>Eficiencia en el Registro de Datos</a:t>
            </a:r>
            <a:endParaRPr b="0" sz="1300">
              <a:solidFill>
                <a:srgbClr val="10B981"/>
              </a:solidFill>
              <a:latin typeface="Inter Medium"/>
              <a:ea typeface="Inter Medium"/>
              <a:cs typeface="Inter Medium"/>
              <a:sym typeface="Inter Medium"/>
            </a:endParaRPr>
          </a:p>
        </p:txBody>
      </p:sp>
      <p:grpSp>
        <p:nvGrpSpPr>
          <p:cNvPr id="174" name="Google Shape;174;p17"/>
          <p:cNvGrpSpPr/>
          <p:nvPr/>
        </p:nvGrpSpPr>
        <p:grpSpPr>
          <a:xfrm>
            <a:off x="366713" y="1414463"/>
            <a:ext cx="2628900" cy="3109988"/>
            <a:chOff x="366713" y="1414463"/>
            <a:chExt cx="2628900" cy="3109988"/>
          </a:xfrm>
        </p:grpSpPr>
        <p:sp>
          <p:nvSpPr>
            <p:cNvPr id="175" name="Google Shape;175;p17"/>
            <p:cNvSpPr/>
            <p:nvPr/>
          </p:nvSpPr>
          <p:spPr>
            <a:xfrm>
              <a:off x="381000" y="1428750"/>
              <a:ext cx="2600400" cy="3095700"/>
            </a:xfrm>
            <a:prstGeom prst="roundRect">
              <a:avLst>
                <a:gd fmla="val 4395"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6" name="Google Shape;176;p17"/>
            <p:cNvPicPr preferRelativeResize="0"/>
            <p:nvPr/>
          </p:nvPicPr>
          <p:blipFill rotWithShape="1">
            <a:blip r:embed="rId3">
              <a:alphaModFix/>
            </a:blip>
            <a:srcRect b="0" l="0" r="0" t="0"/>
            <a:stretch/>
          </p:blipFill>
          <p:spPr>
            <a:xfrm>
              <a:off x="366713" y="1414463"/>
              <a:ext cx="2628900" cy="128700"/>
            </a:xfrm>
            <a:prstGeom prst="rect">
              <a:avLst/>
            </a:prstGeom>
            <a:noFill/>
            <a:ln>
              <a:noFill/>
            </a:ln>
          </p:spPr>
        </p:pic>
        <p:sp>
          <p:nvSpPr>
            <p:cNvPr id="177" name="Google Shape;177;p17"/>
            <p:cNvSpPr txBox="1"/>
            <p:nvPr/>
          </p:nvSpPr>
          <p:spPr>
            <a:xfrm>
              <a:off x="533400" y="1581150"/>
              <a:ext cx="2295600" cy="28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3B82F6"/>
                  </a:solidFill>
                  <a:latin typeface="Inter SemiBold"/>
                  <a:ea typeface="Inter SemiBold"/>
                  <a:cs typeface="Inter SemiBold"/>
                  <a:sym typeface="Inter SemiBold"/>
                </a:rPr>
                <a:t>01 | REGISTRO ÁGIL</a:t>
              </a:r>
              <a:endParaRPr b="0" sz="900">
                <a:solidFill>
                  <a:srgbClr val="3B82F6"/>
                </a:solidFill>
                <a:latin typeface="Inter SemiBold"/>
                <a:ea typeface="Inter SemiBold"/>
                <a:cs typeface="Inter SemiBold"/>
                <a:sym typeface="Inter SemiBold"/>
              </a:endParaRPr>
            </a:p>
            <a:p>
              <a:pPr indent="0" lvl="0" marL="0" rtl="0" algn="l">
                <a:spcBef>
                  <a:spcPts val="450"/>
                </a:spcBef>
                <a:spcAft>
                  <a:spcPts val="0"/>
                </a:spcAft>
                <a:buNone/>
              </a:pPr>
              <a:r>
                <a:rPr b="1" lang="es" sz="1250">
                  <a:solidFill>
                    <a:srgbClr val="F8FAFC"/>
                  </a:solidFill>
                  <a:latin typeface="Montserrat"/>
                  <a:ea typeface="Montserrat"/>
                  <a:cs typeface="Montserrat"/>
                  <a:sym typeface="Montserrat"/>
                </a:rPr>
                <a:t>Registro y Asignación de Destino</a:t>
              </a:r>
              <a:endParaRPr b="1" sz="1250">
                <a:solidFill>
                  <a:srgbClr val="F8FAFC"/>
                </a:solidFill>
                <a:latin typeface="Montserrat"/>
                <a:ea typeface="Montserrat"/>
                <a:cs typeface="Montserrat"/>
                <a:sym typeface="Montserrat"/>
              </a:endParaRPr>
            </a:p>
            <a:p>
              <a:pPr indent="-317500" lvl="0" marL="457200" rtl="0" algn="l">
                <a:spcBef>
                  <a:spcPts val="900"/>
                </a:spcBef>
                <a:spcAft>
                  <a:spcPts val="0"/>
                </a:spcAft>
                <a:buClr>
                  <a:srgbClr val="3B82F6"/>
                </a:buClr>
                <a:buSzPts val="1400"/>
                <a:buChar char="●"/>
              </a:pPr>
              <a:r>
                <a:rPr b="0" lang="es" sz="1100">
                  <a:solidFill>
                    <a:srgbClr val="F8FAFC"/>
                  </a:solidFill>
                  <a:latin typeface="Inter"/>
                  <a:ea typeface="Inter"/>
                  <a:cs typeface="Inter"/>
                  <a:sym typeface="Inter"/>
                </a:rPr>
                <a:t>Permite un registro sumamente ágil de egresos e ingresos.</a:t>
              </a:r>
              <a:endParaRPr b="0" sz="1100">
                <a:solidFill>
                  <a:srgbClr val="F8FAFC"/>
                </a:solidFill>
                <a:latin typeface="Inter"/>
                <a:ea typeface="Inter"/>
                <a:cs typeface="Inter"/>
                <a:sym typeface="Inter"/>
              </a:endParaRPr>
            </a:p>
            <a:p>
              <a:pPr indent="-317500" lvl="0" marL="457200" rtl="0" algn="l">
                <a:spcBef>
                  <a:spcPts val="750"/>
                </a:spcBef>
                <a:spcAft>
                  <a:spcPts val="0"/>
                </a:spcAft>
                <a:buClr>
                  <a:srgbClr val="3B82F6"/>
                </a:buClr>
                <a:buSzPts val="1400"/>
                <a:buChar char="●"/>
              </a:pPr>
              <a:r>
                <a:rPr b="0" lang="es" sz="1100">
                  <a:solidFill>
                    <a:srgbClr val="F8FAFC"/>
                  </a:solidFill>
                  <a:latin typeface="Inter"/>
                  <a:ea typeface="Inter"/>
                  <a:cs typeface="Inter"/>
                  <a:sym typeface="Inter"/>
                </a:rPr>
                <a:t>Selección crítica de destino: Billetera Personal vs. Proyecto Compartido.</a:t>
              </a:r>
              <a:endParaRPr b="0" sz="1100">
                <a:solidFill>
                  <a:srgbClr val="F8FAFC"/>
                </a:solidFill>
                <a:latin typeface="Inter"/>
                <a:ea typeface="Inter"/>
                <a:cs typeface="Inter"/>
                <a:sym typeface="Inter"/>
              </a:endParaRPr>
            </a:p>
            <a:p>
              <a:pPr indent="-317500" lvl="0" marL="457200" rtl="0" algn="l">
                <a:spcBef>
                  <a:spcPts val="750"/>
                </a:spcBef>
                <a:spcAft>
                  <a:spcPts val="0"/>
                </a:spcAft>
                <a:buClr>
                  <a:srgbClr val="3B82F6"/>
                </a:buClr>
                <a:buSzPts val="1400"/>
                <a:buChar char="●"/>
              </a:pPr>
              <a:r>
                <a:rPr b="0" lang="es" sz="1100">
                  <a:solidFill>
                    <a:srgbClr val="F8FAFC"/>
                  </a:solidFill>
                  <a:latin typeface="Inter"/>
                  <a:ea typeface="Inter"/>
                  <a:cs typeface="Inter"/>
                  <a:sym typeface="Inter"/>
                </a:rPr>
                <a:t>Mantiene los balances de las bóvedas precisos y separados de las finanzas individuales.</a:t>
              </a:r>
              <a:endParaRPr b="0" sz="1100">
                <a:solidFill>
                  <a:srgbClr val="F8FAFC"/>
                </a:solidFill>
                <a:latin typeface="Inter"/>
                <a:ea typeface="Inter"/>
                <a:cs typeface="Inter"/>
                <a:sym typeface="Inter"/>
              </a:endParaRPr>
            </a:p>
          </p:txBody>
        </p:sp>
      </p:grpSp>
      <p:grpSp>
        <p:nvGrpSpPr>
          <p:cNvPr id="178" name="Google Shape;178;p17"/>
          <p:cNvGrpSpPr/>
          <p:nvPr/>
        </p:nvGrpSpPr>
        <p:grpSpPr>
          <a:xfrm>
            <a:off x="3252788" y="1414463"/>
            <a:ext cx="2628900" cy="3109988"/>
            <a:chOff x="3252788" y="1414463"/>
            <a:chExt cx="2628900" cy="3109988"/>
          </a:xfrm>
        </p:grpSpPr>
        <p:sp>
          <p:nvSpPr>
            <p:cNvPr id="179" name="Google Shape;179;p17"/>
            <p:cNvSpPr/>
            <p:nvPr/>
          </p:nvSpPr>
          <p:spPr>
            <a:xfrm>
              <a:off x="3267075" y="1428750"/>
              <a:ext cx="2600400" cy="3095700"/>
            </a:xfrm>
            <a:prstGeom prst="roundRect">
              <a:avLst>
                <a:gd fmla="val 4395"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0" name="Google Shape;180;p17"/>
            <p:cNvPicPr preferRelativeResize="0"/>
            <p:nvPr/>
          </p:nvPicPr>
          <p:blipFill rotWithShape="1">
            <a:blip r:embed="rId4">
              <a:alphaModFix/>
            </a:blip>
            <a:srcRect b="0" l="0" r="0" t="0"/>
            <a:stretch/>
          </p:blipFill>
          <p:spPr>
            <a:xfrm>
              <a:off x="3252788" y="1414463"/>
              <a:ext cx="2628900" cy="128700"/>
            </a:xfrm>
            <a:prstGeom prst="rect">
              <a:avLst/>
            </a:prstGeom>
            <a:noFill/>
            <a:ln>
              <a:noFill/>
            </a:ln>
          </p:spPr>
        </p:pic>
        <p:sp>
          <p:nvSpPr>
            <p:cNvPr id="181" name="Google Shape;181;p17"/>
            <p:cNvSpPr txBox="1"/>
            <p:nvPr/>
          </p:nvSpPr>
          <p:spPr>
            <a:xfrm>
              <a:off x="3419475" y="1581150"/>
              <a:ext cx="2295600" cy="28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10B981"/>
                  </a:solidFill>
                  <a:latin typeface="Inter SemiBold"/>
                  <a:ea typeface="Inter SemiBold"/>
                  <a:cs typeface="Inter SemiBold"/>
                  <a:sym typeface="Inter SemiBold"/>
                </a:rPr>
                <a:t>02 | CLASIFICACIÓN</a:t>
              </a:r>
              <a:endParaRPr b="0" sz="900">
                <a:solidFill>
                  <a:srgbClr val="10B981"/>
                </a:solidFill>
                <a:latin typeface="Inter SemiBold"/>
                <a:ea typeface="Inter SemiBold"/>
                <a:cs typeface="Inter SemiBold"/>
                <a:sym typeface="Inter SemiBold"/>
              </a:endParaRPr>
            </a:p>
            <a:p>
              <a:pPr indent="0" lvl="0" marL="0" rtl="0" algn="l">
                <a:spcBef>
                  <a:spcPts val="450"/>
                </a:spcBef>
                <a:spcAft>
                  <a:spcPts val="0"/>
                </a:spcAft>
                <a:buNone/>
              </a:pPr>
              <a:r>
                <a:rPr b="1" lang="es" sz="1250">
                  <a:solidFill>
                    <a:srgbClr val="F8FAFC"/>
                  </a:solidFill>
                  <a:latin typeface="Montserrat"/>
                  <a:ea typeface="Montserrat"/>
                  <a:cs typeface="Montserrat"/>
                  <a:sym typeface="Montserrat"/>
                </a:rPr>
                <a:t>Fijos vs. Variables</a:t>
              </a:r>
              <a:endParaRPr b="1" sz="1250">
                <a:solidFill>
                  <a:srgbClr val="F8FAFC"/>
                </a:solidFill>
                <a:latin typeface="Montserrat"/>
                <a:ea typeface="Montserrat"/>
                <a:cs typeface="Montserrat"/>
                <a:sym typeface="Montserrat"/>
              </a:endParaRPr>
            </a:p>
            <a:p>
              <a:pPr indent="-317500" lvl="0" marL="457200" rtl="0" algn="l">
                <a:spcBef>
                  <a:spcPts val="900"/>
                </a:spcBef>
                <a:spcAft>
                  <a:spcPts val="0"/>
                </a:spcAft>
                <a:buClr>
                  <a:srgbClr val="10B981"/>
                </a:buClr>
                <a:buSzPts val="1400"/>
                <a:buChar char="●"/>
              </a:pPr>
              <a:r>
                <a:rPr b="0" lang="es" sz="1100">
                  <a:solidFill>
                    <a:srgbClr val="F8FAFC"/>
                  </a:solidFill>
                  <a:latin typeface="Inter"/>
                  <a:ea typeface="Inter"/>
                  <a:cs typeface="Inter"/>
                  <a:sym typeface="Inter"/>
                </a:rPr>
                <a:t>Exige la clasificación de gastos en </a:t>
              </a:r>
              <a:r>
                <a:rPr b="0" lang="es" sz="1100">
                  <a:solidFill>
                    <a:srgbClr val="10B981"/>
                  </a:solidFill>
                  <a:latin typeface="Inter SemiBold"/>
                  <a:ea typeface="Inter SemiBold"/>
                  <a:cs typeface="Inter SemiBold"/>
                  <a:sym typeface="Inter SemiBold"/>
                </a:rPr>
                <a:t>Fijos</a:t>
              </a:r>
              <a:r>
                <a:rPr b="0" lang="es" sz="1100">
                  <a:solidFill>
                    <a:srgbClr val="F8FAFC"/>
                  </a:solidFill>
                  <a:latin typeface="Inter"/>
                  <a:ea typeface="Inter"/>
                  <a:cs typeface="Inter"/>
                  <a:sym typeface="Inter"/>
                </a:rPr>
                <a:t> (compromisos ineludibles como alquiler y servicios) y </a:t>
              </a:r>
              <a:r>
                <a:rPr b="0" lang="es" sz="1100">
                  <a:solidFill>
                    <a:srgbClr val="F59E0B"/>
                  </a:solidFill>
                  <a:latin typeface="Inter SemiBold"/>
                  <a:ea typeface="Inter SemiBold"/>
                  <a:cs typeface="Inter SemiBold"/>
                  <a:sym typeface="Inter SemiBold"/>
                </a:rPr>
                <a:t>Variables</a:t>
              </a:r>
              <a:r>
                <a:rPr b="0" lang="es" sz="1100">
                  <a:solidFill>
                    <a:srgbClr val="F8FAFC"/>
                  </a:solidFill>
                  <a:latin typeface="Inter"/>
                  <a:ea typeface="Inter"/>
                  <a:cs typeface="Inter"/>
                  <a:sym typeface="Inter"/>
                </a:rPr>
                <a:t> (entretenimiento, restaurantes).</a:t>
              </a:r>
              <a:endParaRPr b="0" sz="1100">
                <a:solidFill>
                  <a:srgbClr val="F8FAFC"/>
                </a:solidFill>
                <a:latin typeface="Inter"/>
                <a:ea typeface="Inter"/>
                <a:cs typeface="Inter"/>
                <a:sym typeface="Inter"/>
              </a:endParaRPr>
            </a:p>
            <a:p>
              <a:pPr indent="-317500" lvl="0" marL="457200" rtl="0" algn="l">
                <a:spcBef>
                  <a:spcPts val="900"/>
                </a:spcBef>
                <a:spcAft>
                  <a:spcPts val="0"/>
                </a:spcAft>
                <a:buClr>
                  <a:srgbClr val="10B981"/>
                </a:buClr>
                <a:buSzPts val="1400"/>
                <a:buChar char="●"/>
              </a:pPr>
              <a:r>
                <a:rPr b="0" lang="es" sz="1100">
                  <a:solidFill>
                    <a:srgbClr val="F8FAFC"/>
                  </a:solidFill>
                  <a:latin typeface="Inter"/>
                  <a:ea typeface="Inter"/>
                  <a:cs typeface="Inter"/>
                  <a:sym typeface="Inter"/>
                </a:rPr>
                <a:t>Permite entender la proporción de gastos obligatorios para evaluar y mejorar la estabilidad económica a largo plazo.</a:t>
              </a:r>
              <a:endParaRPr b="0" sz="1100">
                <a:solidFill>
                  <a:srgbClr val="F8FAFC"/>
                </a:solidFill>
                <a:latin typeface="Inter"/>
                <a:ea typeface="Inter"/>
                <a:cs typeface="Inter"/>
                <a:sym typeface="Inter"/>
              </a:endParaRPr>
            </a:p>
          </p:txBody>
        </p:sp>
      </p:grpSp>
      <p:grpSp>
        <p:nvGrpSpPr>
          <p:cNvPr id="182" name="Google Shape;182;p17"/>
          <p:cNvGrpSpPr/>
          <p:nvPr/>
        </p:nvGrpSpPr>
        <p:grpSpPr>
          <a:xfrm>
            <a:off x="6138863" y="1414463"/>
            <a:ext cx="2628900" cy="3109988"/>
            <a:chOff x="6138863" y="1414463"/>
            <a:chExt cx="2628900" cy="3109988"/>
          </a:xfrm>
        </p:grpSpPr>
        <p:sp>
          <p:nvSpPr>
            <p:cNvPr id="183" name="Google Shape;183;p17"/>
            <p:cNvSpPr/>
            <p:nvPr/>
          </p:nvSpPr>
          <p:spPr>
            <a:xfrm>
              <a:off x="6153150" y="1428750"/>
              <a:ext cx="2600400" cy="3095700"/>
            </a:xfrm>
            <a:prstGeom prst="roundRect">
              <a:avLst>
                <a:gd fmla="val 4395"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4" name="Google Shape;184;p17"/>
            <p:cNvPicPr preferRelativeResize="0"/>
            <p:nvPr/>
          </p:nvPicPr>
          <p:blipFill rotWithShape="1">
            <a:blip r:embed="rId3">
              <a:alphaModFix/>
            </a:blip>
            <a:srcRect b="0" l="0" r="0" t="0"/>
            <a:stretch/>
          </p:blipFill>
          <p:spPr>
            <a:xfrm>
              <a:off x="6138863" y="1414463"/>
              <a:ext cx="2628900" cy="128700"/>
            </a:xfrm>
            <a:prstGeom prst="rect">
              <a:avLst/>
            </a:prstGeom>
            <a:noFill/>
            <a:ln>
              <a:noFill/>
            </a:ln>
          </p:spPr>
        </p:pic>
        <p:grpSp>
          <p:nvGrpSpPr>
            <p:cNvPr id="185" name="Google Shape;185;p17"/>
            <p:cNvGrpSpPr/>
            <p:nvPr/>
          </p:nvGrpSpPr>
          <p:grpSpPr>
            <a:xfrm>
              <a:off x="6596063" y="1571625"/>
              <a:ext cx="1714500" cy="400200"/>
              <a:chOff x="0" y="0"/>
              <a:chExt cx="1714500" cy="400200"/>
            </a:xfrm>
          </p:grpSpPr>
          <p:sp>
            <p:nvSpPr>
              <p:cNvPr id="186" name="Google Shape;186;p17"/>
              <p:cNvSpPr/>
              <p:nvPr/>
            </p:nvSpPr>
            <p:spPr>
              <a:xfrm>
                <a:off x="0" y="0"/>
                <a:ext cx="1714500" cy="400200"/>
              </a:xfrm>
              <a:prstGeom prst="roundRect">
                <a:avLst>
                  <a:gd fmla="val 50000" name="adj"/>
                </a:avLst>
              </a:prstGeom>
              <a:solidFill>
                <a:srgbClr val="3B82F6">
                  <a:alpha val="12000"/>
                </a:srgbClr>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7"/>
              <p:cNvSpPr/>
              <p:nvPr/>
            </p:nvSpPr>
            <p:spPr>
              <a:xfrm>
                <a:off x="180975" y="114300"/>
                <a:ext cx="142800" cy="171600"/>
              </a:xfrm>
              <a:custGeom>
                <a:rect b="b" l="l" r="r" t="t"/>
                <a:pathLst>
                  <a:path extrusionOk="0" fill="none" h="120000" w="120000">
                    <a:moveTo>
                      <a:pt x="40000" y="26667"/>
                    </a:moveTo>
                    <a:lnTo>
                      <a:pt x="40000" y="93333"/>
                    </a:lnTo>
                    <a:moveTo>
                      <a:pt x="80000" y="0"/>
                    </a:moveTo>
                    <a:lnTo>
                      <a:pt x="80000" y="120000"/>
                    </a:lnTo>
                    <a:moveTo>
                      <a:pt x="120000" y="33333"/>
                    </a:moveTo>
                    <a:lnTo>
                      <a:pt x="120000" y="86667"/>
                    </a:lnTo>
                    <a:moveTo>
                      <a:pt x="0" y="33333"/>
                    </a:moveTo>
                    <a:lnTo>
                      <a:pt x="0" y="86667"/>
                    </a:lnTo>
                  </a:path>
                </a:pathLst>
              </a:custGeom>
              <a:solidFill>
                <a:srgbClr val="FFFFFF"/>
              </a:solidFill>
              <a:ln cap="rnd"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7"/>
              <p:cNvSpPr txBox="1"/>
              <p:nvPr/>
            </p:nvSpPr>
            <p:spPr>
              <a:xfrm>
                <a:off x="400050" y="104775"/>
                <a:ext cx="1200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50">
                    <a:solidFill>
                      <a:srgbClr val="3B82F6"/>
                    </a:solidFill>
                    <a:latin typeface="Inter SemiBold"/>
                    <a:ea typeface="Inter SemiBold"/>
                    <a:cs typeface="Inter SemiBold"/>
                    <a:sym typeface="Inter SemiBold"/>
                  </a:rPr>
                  <a:t>VOZ IA ACTIVA</a:t>
                </a:r>
                <a:endParaRPr b="0" sz="850">
                  <a:solidFill>
                    <a:srgbClr val="3B82F6"/>
                  </a:solidFill>
                  <a:latin typeface="Inter SemiBold"/>
                  <a:ea typeface="Inter SemiBold"/>
                  <a:cs typeface="Inter SemiBold"/>
                  <a:sym typeface="Inter SemiBold"/>
                </a:endParaRPr>
              </a:p>
            </p:txBody>
          </p:sp>
        </p:grpSp>
        <p:sp>
          <p:nvSpPr>
            <p:cNvPr id="189" name="Google Shape;189;p17"/>
            <p:cNvSpPr txBox="1"/>
            <p:nvPr/>
          </p:nvSpPr>
          <p:spPr>
            <a:xfrm>
              <a:off x="6305550" y="2076450"/>
              <a:ext cx="2295600" cy="23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50">
                  <a:solidFill>
                    <a:srgbClr val="F8FAFC"/>
                  </a:solidFill>
                  <a:latin typeface="Montserrat"/>
                  <a:ea typeface="Montserrat"/>
                  <a:cs typeface="Montserrat"/>
                  <a:sym typeface="Montserrat"/>
                </a:rPr>
                <a:t>Entrada por Voz IA</a:t>
              </a:r>
              <a:endParaRPr b="1" sz="1250">
                <a:solidFill>
                  <a:srgbClr val="F8FAFC"/>
                </a:solidFill>
                <a:latin typeface="Montserrat"/>
                <a:ea typeface="Montserrat"/>
                <a:cs typeface="Montserrat"/>
                <a:sym typeface="Montserrat"/>
              </a:endParaRPr>
            </a:p>
            <a:p>
              <a:pPr indent="-317500" lvl="0" marL="457200" rtl="0" algn="l">
                <a:spcBef>
                  <a:spcPts val="750"/>
                </a:spcBef>
                <a:spcAft>
                  <a:spcPts val="0"/>
                </a:spcAft>
                <a:buClr>
                  <a:srgbClr val="3B82F6"/>
                </a:buClr>
                <a:buSzPts val="1400"/>
                <a:buChar char="●"/>
              </a:pPr>
              <a:r>
                <a:rPr b="0" lang="es" sz="1050">
                  <a:solidFill>
                    <a:srgbClr val="F8FAFC"/>
                  </a:solidFill>
                  <a:latin typeface="Inter"/>
                  <a:ea typeface="Inter"/>
                  <a:cs typeface="Inter"/>
                  <a:sym typeface="Inter"/>
                </a:rPr>
                <a:t>Entrada por Voz impulsada por Inteligencia Artificial.</a:t>
              </a:r>
              <a:endParaRPr b="0" sz="1050">
                <a:solidFill>
                  <a:srgbClr val="F8FAFC"/>
                </a:solidFill>
                <a:latin typeface="Inter"/>
                <a:ea typeface="Inter"/>
                <a:cs typeface="Inter"/>
                <a:sym typeface="Inter"/>
              </a:endParaRPr>
            </a:p>
            <a:p>
              <a:pPr indent="-317500" lvl="0" marL="457200" rtl="0" algn="l">
                <a:spcBef>
                  <a:spcPts val="600"/>
                </a:spcBef>
                <a:spcAft>
                  <a:spcPts val="0"/>
                </a:spcAft>
                <a:buClr>
                  <a:srgbClr val="3B82F6"/>
                </a:buClr>
                <a:buSzPts val="1400"/>
                <a:buChar char="●"/>
              </a:pPr>
              <a:r>
                <a:rPr b="0" lang="es" sz="1050">
                  <a:solidFill>
                    <a:srgbClr val="F8FAFC"/>
                  </a:solidFill>
                  <a:latin typeface="Inter"/>
                  <a:ea typeface="Inter"/>
                  <a:cs typeface="Inter"/>
                  <a:sym typeface="Inter"/>
                </a:rPr>
                <a:t>Dictado en lenguaje natural: </a:t>
              </a:r>
              <a:r>
                <a:rPr b="0" i="1" lang="es" sz="1050">
                  <a:solidFill>
                    <a:srgbClr val="94A3B8"/>
                  </a:solidFill>
                  <a:latin typeface="Inter"/>
                  <a:ea typeface="Inter"/>
                  <a:cs typeface="Inter"/>
                  <a:sym typeface="Inter"/>
                </a:rPr>
                <a:t>«Gasto de 50 dólares en supermercado para la bóveda de la casa»</a:t>
              </a:r>
              <a:r>
                <a:rPr b="0" lang="es" sz="1050">
                  <a:solidFill>
                    <a:srgbClr val="F8FAFC"/>
                  </a:solidFill>
                  <a:latin typeface="Inter"/>
                  <a:ea typeface="Inter"/>
                  <a:cs typeface="Inter"/>
                  <a:sym typeface="Inter"/>
                </a:rPr>
                <a:t>.</a:t>
              </a:r>
              <a:endParaRPr b="0" sz="1050">
                <a:solidFill>
                  <a:srgbClr val="F8FAFC"/>
                </a:solidFill>
                <a:latin typeface="Inter"/>
                <a:ea typeface="Inter"/>
                <a:cs typeface="Inter"/>
                <a:sym typeface="Inter"/>
              </a:endParaRPr>
            </a:p>
            <a:p>
              <a:pPr indent="-317500" lvl="0" marL="457200" rtl="0" algn="l">
                <a:spcBef>
                  <a:spcPts val="600"/>
                </a:spcBef>
                <a:spcAft>
                  <a:spcPts val="0"/>
                </a:spcAft>
                <a:buClr>
                  <a:srgbClr val="3B82F6"/>
                </a:buClr>
                <a:buSzPts val="1400"/>
                <a:buChar char="●"/>
              </a:pPr>
              <a:r>
                <a:rPr b="0" lang="es" sz="1050">
                  <a:solidFill>
                    <a:srgbClr val="F8FAFC"/>
                  </a:solidFill>
                  <a:latin typeface="Inter"/>
                  <a:ea typeface="Inter"/>
                  <a:cs typeface="Inter"/>
                  <a:sym typeface="Inter"/>
                </a:rPr>
                <a:t>El motor de IA categoriza y registra automáticamente sin necesidad de teclear.</a:t>
              </a:r>
              <a:endParaRPr b="0" sz="1050">
                <a:solidFill>
                  <a:srgbClr val="F8FAFC"/>
                </a:solidFill>
                <a:latin typeface="Inter"/>
                <a:ea typeface="Inter"/>
                <a:cs typeface="Inter"/>
                <a:sym typeface="Inter"/>
              </a:endParaRPr>
            </a:p>
          </p:txBody>
        </p:sp>
      </p:grpSp>
      <p:grpSp>
        <p:nvGrpSpPr>
          <p:cNvPr id="190" name="Google Shape;190;p17"/>
          <p:cNvGrpSpPr/>
          <p:nvPr/>
        </p:nvGrpSpPr>
        <p:grpSpPr>
          <a:xfrm>
            <a:off x="381000" y="4714875"/>
            <a:ext cx="8382000" cy="285750"/>
            <a:chOff x="381000" y="4714875"/>
            <a:chExt cx="8382000" cy="285750"/>
          </a:xfrm>
        </p:grpSpPr>
        <p:cxnSp>
          <p:nvCxnSpPr>
            <p:cNvPr id="191" name="Google Shape;191;p17"/>
            <p:cNvCxnSpPr/>
            <p:nvPr/>
          </p:nvCxnSpPr>
          <p:spPr>
            <a:xfrm>
              <a:off x="381000" y="4714875"/>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192" name="Google Shape;192;p17"/>
            <p:cNvSpPr txBox="1"/>
            <p:nvPr/>
          </p:nvSpPr>
          <p:spPr>
            <a:xfrm>
              <a:off x="381000" y="4810125"/>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CONFIDENCIAL - USO INTERNO</a:t>
              </a:r>
              <a:endParaRPr b="0" sz="900">
                <a:solidFill>
                  <a:srgbClr val="94A3B8"/>
                </a:solidFill>
                <a:latin typeface="Inter SemiBold"/>
                <a:ea typeface="Inter SemiBold"/>
                <a:cs typeface="Inter SemiBold"/>
                <a:sym typeface="Inter SemiBold"/>
              </a:endParaRPr>
            </a:p>
          </p:txBody>
        </p:sp>
        <p:sp>
          <p:nvSpPr>
            <p:cNvPr id="193" name="Google Shape;193;p17"/>
            <p:cNvSpPr txBox="1"/>
            <p:nvPr/>
          </p:nvSpPr>
          <p:spPr>
            <a:xfrm>
              <a:off x="7810500" y="4810125"/>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900">
                  <a:solidFill>
                    <a:srgbClr val="94A3B8"/>
                  </a:solidFill>
                  <a:latin typeface="Inter SemiBold"/>
                  <a:ea typeface="Inter SemiBold"/>
                  <a:cs typeface="Inter SemiBold"/>
                  <a:sym typeface="Inter SemiBold"/>
                </a:rPr>
                <a:t>2023-10-25</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7" name="Shape 197"/>
        <p:cNvGrpSpPr/>
        <p:nvPr/>
      </p:nvGrpSpPr>
      <p:grpSpPr>
        <a:xfrm>
          <a:off x="0" y="0"/>
          <a:ext cx="0" cy="0"/>
          <a:chOff x="0" y="0"/>
          <a:chExt cx="0" cy="0"/>
        </a:xfrm>
      </p:grpSpPr>
      <p:sp>
        <p:nvSpPr>
          <p:cNvPr id="198" name="Google Shape;198;p18"/>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8"/>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0" name="Google Shape;200;p18"/>
          <p:cNvGrpSpPr/>
          <p:nvPr/>
        </p:nvGrpSpPr>
        <p:grpSpPr>
          <a:xfrm>
            <a:off x="442913" y="287655"/>
            <a:ext cx="1083469" cy="247650"/>
            <a:chOff x="95250" y="76200"/>
            <a:chExt cx="1666875" cy="381000"/>
          </a:xfrm>
        </p:grpSpPr>
        <p:sp>
          <p:nvSpPr>
            <p:cNvPr id="201" name="Google Shape;201;p18"/>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8"/>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8"/>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400">
                  <a:solidFill>
                    <a:srgbClr val="F8FAFC"/>
                  </a:solidFill>
                  <a:latin typeface="Montserrat"/>
                  <a:ea typeface="Montserrat"/>
                  <a:cs typeface="Montserrat"/>
                  <a:sym typeface="Montserrat"/>
                </a:rPr>
                <a:t>FinApp</a:t>
              </a:r>
              <a:endParaRPr b="1" sz="1400">
                <a:solidFill>
                  <a:srgbClr val="F8FAFC"/>
                </a:solidFill>
                <a:latin typeface="Montserrat"/>
                <a:ea typeface="Montserrat"/>
                <a:cs typeface="Montserrat"/>
                <a:sym typeface="Montserrat"/>
              </a:endParaRPr>
            </a:p>
          </p:txBody>
        </p:sp>
      </p:grpSp>
      <p:sp>
        <p:nvSpPr>
          <p:cNvPr id="204" name="Google Shape;204;p18"/>
          <p:cNvSpPr txBox="1"/>
          <p:nvPr/>
        </p:nvSpPr>
        <p:spPr>
          <a:xfrm>
            <a:off x="381000" y="6858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600">
                <a:solidFill>
                  <a:srgbClr val="F8FAFC"/>
                </a:solidFill>
                <a:latin typeface="Montserrat"/>
                <a:ea typeface="Montserrat"/>
                <a:cs typeface="Montserrat"/>
                <a:sym typeface="Montserrat"/>
              </a:rPr>
              <a:t>Atajos Rápidos Táctiles (Shortcuts)</a:t>
            </a:r>
            <a:endParaRPr b="1" sz="2600">
              <a:solidFill>
                <a:srgbClr val="F8FAFC"/>
              </a:solidFill>
              <a:latin typeface="Montserrat"/>
              <a:ea typeface="Montserrat"/>
              <a:cs typeface="Montserrat"/>
              <a:sym typeface="Montserrat"/>
            </a:endParaRPr>
          </a:p>
          <a:p>
            <a:pPr indent="0" lvl="0" marL="0" rtl="0" algn="l">
              <a:spcBef>
                <a:spcPts val="450"/>
              </a:spcBef>
              <a:spcAft>
                <a:spcPts val="0"/>
              </a:spcAft>
              <a:buNone/>
            </a:pPr>
            <a:r>
              <a:rPr b="0" lang="es" sz="1600">
                <a:solidFill>
                  <a:srgbClr val="3B82F6"/>
                </a:solidFill>
                <a:latin typeface="Inter Medium"/>
                <a:ea typeface="Inter Medium"/>
                <a:cs typeface="Inter Medium"/>
                <a:sym typeface="Inter Medium"/>
              </a:rPr>
              <a:t>Velocidad y Personalización Extrema</a:t>
            </a:r>
            <a:endParaRPr b="0" sz="1600">
              <a:solidFill>
                <a:srgbClr val="3B82F6"/>
              </a:solidFill>
              <a:latin typeface="Inter Medium"/>
              <a:ea typeface="Inter Medium"/>
              <a:cs typeface="Inter Medium"/>
              <a:sym typeface="Inter Medium"/>
            </a:endParaRPr>
          </a:p>
        </p:txBody>
      </p:sp>
      <p:sp>
        <p:nvSpPr>
          <p:cNvPr id="205" name="Google Shape;205;p18"/>
          <p:cNvSpPr txBox="1"/>
          <p:nvPr/>
        </p:nvSpPr>
        <p:spPr>
          <a:xfrm>
            <a:off x="381000" y="1571625"/>
            <a:ext cx="4000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50">
                <a:solidFill>
                  <a:srgbClr val="3B82F6"/>
                </a:solidFill>
                <a:latin typeface="Inter"/>
                <a:ea typeface="Inter"/>
                <a:cs typeface="Inter"/>
                <a:sym typeface="Inter"/>
              </a:rPr>
              <a:t>Plantillas Prediseñadas de Alto Impacto:</a:t>
            </a:r>
            <a:r>
              <a:rPr b="0" lang="es" sz="1250">
                <a:solidFill>
                  <a:srgbClr val="F8FAFC"/>
                </a:solidFill>
                <a:latin typeface="Inter"/>
                <a:ea typeface="Inter"/>
                <a:cs typeface="Inter"/>
                <a:sym typeface="Inter"/>
              </a:rPr>
              <a:t> Automatización del registro para compras cotidianas frecuentes (café, transporte, suscripciones) identificadas con una insignia distintiva de rayo dorado ⚡.</a:t>
            </a:r>
            <a:endParaRPr b="0" sz="1250">
              <a:solidFill>
                <a:srgbClr val="F8FAFC"/>
              </a:solidFill>
              <a:latin typeface="Inter"/>
              <a:ea typeface="Inter"/>
              <a:cs typeface="Inter"/>
              <a:sym typeface="Inter"/>
            </a:endParaRPr>
          </a:p>
          <a:p>
            <a:pPr indent="0" lvl="0" marL="0" rtl="0" algn="l">
              <a:spcBef>
                <a:spcPts val="900"/>
              </a:spcBef>
              <a:spcAft>
                <a:spcPts val="0"/>
              </a:spcAft>
              <a:buNone/>
            </a:pPr>
            <a:r>
              <a:rPr b="1" lang="es" sz="1250">
                <a:solidFill>
                  <a:srgbClr val="3B82F6"/>
                </a:solidFill>
                <a:latin typeface="Inter"/>
                <a:ea typeface="Inter"/>
                <a:cs typeface="Inter"/>
                <a:sym typeface="Inter"/>
              </a:rPr>
              <a:t>Personalización Ergonómica (Drag-and-Drop):</a:t>
            </a:r>
            <a:r>
              <a:rPr b="0" lang="es" sz="1250">
                <a:solidFill>
                  <a:srgbClr val="F8FAFC"/>
                </a:solidFill>
                <a:latin typeface="Inter"/>
                <a:ea typeface="Inter"/>
                <a:cs typeface="Inter"/>
                <a:sym typeface="Inter"/>
              </a:rPr>
              <a:t> Reordenamiento táctil con GripVertical para colocar los atajos más usados al alcance del pulgar.</a:t>
            </a:r>
            <a:endParaRPr b="0" sz="1250">
              <a:solidFill>
                <a:srgbClr val="F8FAFC"/>
              </a:solidFill>
              <a:latin typeface="Inter"/>
              <a:ea typeface="Inter"/>
              <a:cs typeface="Inter"/>
              <a:sym typeface="Inter"/>
            </a:endParaRPr>
          </a:p>
          <a:p>
            <a:pPr indent="0" lvl="0" marL="0" rtl="0" algn="l">
              <a:spcBef>
                <a:spcPts val="900"/>
              </a:spcBef>
              <a:spcAft>
                <a:spcPts val="900"/>
              </a:spcAft>
              <a:buNone/>
            </a:pPr>
            <a:r>
              <a:rPr b="1" lang="es" sz="1250">
                <a:solidFill>
                  <a:srgbClr val="3B82F6"/>
                </a:solidFill>
                <a:latin typeface="Inter"/>
                <a:ea typeface="Inter"/>
                <a:cs typeface="Inter"/>
                <a:sym typeface="Inter"/>
              </a:rPr>
              <a:t>Ejecución Ultrarrápida con Modal Numérico:</a:t>
            </a:r>
            <a:r>
              <a:rPr b="0" lang="es" sz="1250">
                <a:solidFill>
                  <a:srgbClr val="F8FAFC"/>
                </a:solidFill>
                <a:latin typeface="Inter"/>
                <a:ea typeface="Inter"/>
                <a:cs typeface="Inter"/>
                <a:sym typeface="Inter"/>
              </a:rPr>
              <a:t> Al pulsar un atajo ⚡, despliega un modal con teclado numérico gigante. Permite completar el registro en literalmente 1 segundo.</a:t>
            </a:r>
            <a:endParaRPr b="0" sz="1250">
              <a:solidFill>
                <a:srgbClr val="F8FAFC"/>
              </a:solidFill>
              <a:latin typeface="Inter"/>
              <a:ea typeface="Inter"/>
              <a:cs typeface="Inter"/>
              <a:sym typeface="Inter"/>
            </a:endParaRPr>
          </a:p>
        </p:txBody>
      </p:sp>
      <p:grpSp>
        <p:nvGrpSpPr>
          <p:cNvPr id="206" name="Google Shape;206;p18"/>
          <p:cNvGrpSpPr/>
          <p:nvPr/>
        </p:nvGrpSpPr>
        <p:grpSpPr>
          <a:xfrm>
            <a:off x="4667250" y="1571625"/>
            <a:ext cx="4095900" cy="3000300"/>
            <a:chOff x="0" y="0"/>
            <a:chExt cx="4095900" cy="3000300"/>
          </a:xfrm>
        </p:grpSpPr>
        <p:sp>
          <p:nvSpPr>
            <p:cNvPr id="207" name="Google Shape;207;p18"/>
            <p:cNvSpPr/>
            <p:nvPr/>
          </p:nvSpPr>
          <p:spPr>
            <a:xfrm>
              <a:off x="0" y="0"/>
              <a:ext cx="4095900" cy="3000300"/>
            </a:xfrm>
            <a:prstGeom prst="roundRect">
              <a:avLst>
                <a:gd fmla="val 3809"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8"/>
            <p:cNvSpPr txBox="1"/>
            <p:nvPr/>
          </p:nvSpPr>
          <p:spPr>
            <a:xfrm>
              <a:off x="190500" y="152400"/>
              <a:ext cx="3714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3B82F6"/>
                  </a:solidFill>
                  <a:latin typeface="Inter SemiBold"/>
                  <a:ea typeface="Inter SemiBold"/>
                  <a:cs typeface="Inter SemiBold"/>
                  <a:sym typeface="Inter SemiBold"/>
                </a:rPr>
                <a:t>PANEL DE CONFIGURACIÓN Y ERGONOMÍA</a:t>
              </a:r>
              <a:endParaRPr b="0" sz="1000">
                <a:solidFill>
                  <a:srgbClr val="3B82F6"/>
                </a:solidFill>
                <a:latin typeface="Inter SemiBold"/>
                <a:ea typeface="Inter SemiBold"/>
                <a:cs typeface="Inter SemiBold"/>
                <a:sym typeface="Inter SemiBold"/>
              </a:endParaRPr>
            </a:p>
          </p:txBody>
        </p:sp>
        <p:grpSp>
          <p:nvGrpSpPr>
            <p:cNvPr id="209" name="Google Shape;209;p18"/>
            <p:cNvGrpSpPr/>
            <p:nvPr/>
          </p:nvGrpSpPr>
          <p:grpSpPr>
            <a:xfrm>
              <a:off x="190500" y="428625"/>
              <a:ext cx="3714900" cy="495300"/>
              <a:chOff x="0" y="0"/>
              <a:chExt cx="3714900" cy="495300"/>
            </a:xfrm>
          </p:grpSpPr>
          <p:sp>
            <p:nvSpPr>
              <p:cNvPr id="210" name="Google Shape;210;p18"/>
              <p:cNvSpPr/>
              <p:nvPr/>
            </p:nvSpPr>
            <p:spPr>
              <a:xfrm>
                <a:off x="0" y="0"/>
                <a:ext cx="3714900" cy="495300"/>
              </a:xfrm>
              <a:prstGeom prst="roundRect">
                <a:avLst>
                  <a:gd fmla="val 19230" name="adj"/>
                </a:avLst>
              </a:prstGeom>
              <a:solidFill>
                <a:srgbClr val="0F172A"/>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1" name="Google Shape;211;p18"/>
              <p:cNvGrpSpPr/>
              <p:nvPr/>
            </p:nvGrpSpPr>
            <p:grpSpPr>
              <a:xfrm>
                <a:off x="147638" y="166688"/>
                <a:ext cx="85650" cy="161850"/>
                <a:chOff x="14288" y="23813"/>
                <a:chExt cx="85650" cy="161850"/>
              </a:xfrm>
            </p:grpSpPr>
            <p:sp>
              <p:nvSpPr>
                <p:cNvPr id="212" name="Google Shape;212;p18"/>
                <p:cNvSpPr/>
                <p:nvPr/>
              </p:nvSpPr>
              <p:spPr>
                <a:xfrm>
                  <a:off x="14288" y="2381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p:nvPr/>
              </p:nvSpPr>
              <p:spPr>
                <a:xfrm>
                  <a:off x="71438" y="2381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8"/>
                <p:cNvSpPr/>
                <p:nvPr/>
              </p:nvSpPr>
              <p:spPr>
                <a:xfrm>
                  <a:off x="14288" y="90488"/>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8"/>
                <p:cNvSpPr/>
                <p:nvPr/>
              </p:nvSpPr>
              <p:spPr>
                <a:xfrm>
                  <a:off x="71438" y="90488"/>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p:nvPr/>
              </p:nvSpPr>
              <p:spPr>
                <a:xfrm>
                  <a:off x="14288" y="15716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8"/>
                <p:cNvSpPr/>
                <p:nvPr/>
              </p:nvSpPr>
              <p:spPr>
                <a:xfrm>
                  <a:off x="71438" y="15716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8" name="Google Shape;218;p18"/>
              <p:cNvSpPr/>
              <p:nvPr/>
            </p:nvSpPr>
            <p:spPr>
              <a:xfrm>
                <a:off x="323850" y="152400"/>
                <a:ext cx="152400" cy="209700"/>
              </a:xfrm>
              <a:custGeom>
                <a:rect b="b" l="l" r="r" t="t"/>
                <a:pathLst>
                  <a:path extrusionOk="0" h="120000" w="120000">
                    <a:moveTo>
                      <a:pt x="60000" y="0"/>
                    </a:moveTo>
                    <a:lnTo>
                      <a:pt x="0" y="76364"/>
                    </a:lnTo>
                    <a:lnTo>
                      <a:pt x="60000" y="76364"/>
                    </a:lnTo>
                    <a:lnTo>
                      <a:pt x="30000" y="120000"/>
                    </a:lnTo>
                    <a:lnTo>
                      <a:pt x="120000" y="32727"/>
                    </a:lnTo>
                    <a:lnTo>
                      <a:pt x="60000" y="32727"/>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8"/>
              <p:cNvSpPr txBox="1"/>
              <p:nvPr/>
            </p:nvSpPr>
            <p:spPr>
              <a:xfrm>
                <a:off x="552450" y="95250"/>
                <a:ext cx="20955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50">
                    <a:solidFill>
                      <a:srgbClr val="F59E0B"/>
                    </a:solidFill>
                    <a:latin typeface="Inter SemiBold"/>
                    <a:ea typeface="Inter SemiBold"/>
                    <a:cs typeface="Inter SemiBold"/>
                    <a:sym typeface="Inter SemiBold"/>
                  </a:rPr>
                  <a:t>ATAJO RÁPIDO ⚡</a:t>
                </a:r>
                <a:endParaRPr b="0" sz="850">
                  <a:solidFill>
                    <a:srgbClr val="F59E0B"/>
                  </a:solidFill>
                  <a:latin typeface="Inter SemiBold"/>
                  <a:ea typeface="Inter SemiBold"/>
                  <a:cs typeface="Inter SemiBold"/>
                  <a:sym typeface="Inter SemiBold"/>
                </a:endParaRPr>
              </a:p>
              <a:p>
                <a:pPr indent="0" lvl="0" marL="0" rtl="0" algn="l">
                  <a:spcBef>
                    <a:spcPts val="0"/>
                  </a:spcBef>
                  <a:spcAft>
                    <a:spcPts val="0"/>
                  </a:spcAft>
                  <a:buNone/>
                </a:pPr>
                <a:r>
                  <a:rPr b="0" lang="es" sz="1100">
                    <a:solidFill>
                      <a:srgbClr val="F8FAFC"/>
                    </a:solidFill>
                    <a:latin typeface="Inter SemiBold"/>
                    <a:ea typeface="Inter SemiBold"/>
                    <a:cs typeface="Inter SemiBold"/>
                    <a:sym typeface="Inter SemiBold"/>
                  </a:rPr>
                  <a:t>Café Matutino</a:t>
                </a:r>
                <a:endParaRPr b="0" sz="1100">
                  <a:solidFill>
                    <a:srgbClr val="F8FAFC"/>
                  </a:solidFill>
                  <a:latin typeface="Inter SemiBold"/>
                  <a:ea typeface="Inter SemiBold"/>
                  <a:cs typeface="Inter SemiBold"/>
                  <a:sym typeface="Inter SemiBold"/>
                </a:endParaRPr>
              </a:p>
            </p:txBody>
          </p:sp>
          <p:sp>
            <p:nvSpPr>
              <p:cNvPr id="220" name="Google Shape;220;p18"/>
              <p:cNvSpPr txBox="1"/>
              <p:nvPr/>
            </p:nvSpPr>
            <p:spPr>
              <a:xfrm>
                <a:off x="2667000" y="133350"/>
                <a:ext cx="9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900">
                    <a:solidFill>
                      <a:srgbClr val="F59E0B"/>
                    </a:solidFill>
                    <a:latin typeface="Inter SemiBold"/>
                    <a:ea typeface="Inter SemiBold"/>
                    <a:cs typeface="Inter SemiBold"/>
                    <a:sym typeface="Inter SemiBold"/>
                  </a:rPr>
                  <a:t>$3.50</a:t>
                </a:r>
                <a:endParaRPr b="0" sz="900">
                  <a:solidFill>
                    <a:srgbClr val="F59E0B"/>
                  </a:solidFill>
                  <a:latin typeface="Inter SemiBold"/>
                  <a:ea typeface="Inter SemiBold"/>
                  <a:cs typeface="Inter SemiBold"/>
                  <a:sym typeface="Inter SemiBold"/>
                </a:endParaRPr>
              </a:p>
            </p:txBody>
          </p:sp>
        </p:grpSp>
        <p:grpSp>
          <p:nvGrpSpPr>
            <p:cNvPr id="221" name="Google Shape;221;p18"/>
            <p:cNvGrpSpPr/>
            <p:nvPr/>
          </p:nvGrpSpPr>
          <p:grpSpPr>
            <a:xfrm>
              <a:off x="190500" y="1000125"/>
              <a:ext cx="3714900" cy="495300"/>
              <a:chOff x="0" y="0"/>
              <a:chExt cx="3714900" cy="495300"/>
            </a:xfrm>
          </p:grpSpPr>
          <p:sp>
            <p:nvSpPr>
              <p:cNvPr id="222" name="Google Shape;222;p18"/>
              <p:cNvSpPr/>
              <p:nvPr/>
            </p:nvSpPr>
            <p:spPr>
              <a:xfrm>
                <a:off x="0" y="0"/>
                <a:ext cx="3714900" cy="495300"/>
              </a:xfrm>
              <a:prstGeom prst="roundRect">
                <a:avLst>
                  <a:gd fmla="val 1923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3" name="Google Shape;223;p18"/>
              <p:cNvGrpSpPr/>
              <p:nvPr/>
            </p:nvGrpSpPr>
            <p:grpSpPr>
              <a:xfrm>
                <a:off x="147638" y="166688"/>
                <a:ext cx="85650" cy="161850"/>
                <a:chOff x="14288" y="23813"/>
                <a:chExt cx="85650" cy="161850"/>
              </a:xfrm>
            </p:grpSpPr>
            <p:sp>
              <p:nvSpPr>
                <p:cNvPr id="224" name="Google Shape;224;p18"/>
                <p:cNvSpPr/>
                <p:nvPr/>
              </p:nvSpPr>
              <p:spPr>
                <a:xfrm>
                  <a:off x="14288" y="2381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p:nvPr/>
              </p:nvSpPr>
              <p:spPr>
                <a:xfrm>
                  <a:off x="71438" y="2381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8"/>
                <p:cNvSpPr/>
                <p:nvPr/>
              </p:nvSpPr>
              <p:spPr>
                <a:xfrm>
                  <a:off x="14288" y="90488"/>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8"/>
                <p:cNvSpPr/>
                <p:nvPr/>
              </p:nvSpPr>
              <p:spPr>
                <a:xfrm>
                  <a:off x="71438" y="90488"/>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8"/>
                <p:cNvSpPr/>
                <p:nvPr/>
              </p:nvSpPr>
              <p:spPr>
                <a:xfrm>
                  <a:off x="14288" y="15716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8"/>
                <p:cNvSpPr/>
                <p:nvPr/>
              </p:nvSpPr>
              <p:spPr>
                <a:xfrm>
                  <a:off x="71438" y="157163"/>
                  <a:ext cx="28500" cy="28500"/>
                </a:xfrm>
                <a:prstGeom prst="ellipse">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0" name="Google Shape;230;p18"/>
              <p:cNvSpPr/>
              <p:nvPr/>
            </p:nvSpPr>
            <p:spPr>
              <a:xfrm>
                <a:off x="323850" y="152400"/>
                <a:ext cx="152400" cy="209700"/>
              </a:xfrm>
              <a:custGeom>
                <a:rect b="b" l="l" r="r" t="t"/>
                <a:pathLst>
                  <a:path extrusionOk="0" h="120000" w="120000">
                    <a:moveTo>
                      <a:pt x="60000" y="0"/>
                    </a:moveTo>
                    <a:lnTo>
                      <a:pt x="0" y="76364"/>
                    </a:lnTo>
                    <a:lnTo>
                      <a:pt x="60000" y="76364"/>
                    </a:lnTo>
                    <a:lnTo>
                      <a:pt x="30000" y="120000"/>
                    </a:lnTo>
                    <a:lnTo>
                      <a:pt x="120000" y="32727"/>
                    </a:lnTo>
                    <a:lnTo>
                      <a:pt x="60000" y="32727"/>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8"/>
              <p:cNvSpPr txBox="1"/>
              <p:nvPr/>
            </p:nvSpPr>
            <p:spPr>
              <a:xfrm>
                <a:off x="552450" y="95250"/>
                <a:ext cx="20955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50">
                    <a:solidFill>
                      <a:srgbClr val="94A3B8"/>
                    </a:solidFill>
                    <a:latin typeface="Inter SemiBold"/>
                    <a:ea typeface="Inter SemiBold"/>
                    <a:cs typeface="Inter SemiBold"/>
                    <a:sym typeface="Inter SemiBold"/>
                  </a:rPr>
                  <a:t>ATAJO RÁPIDO ⚡</a:t>
                </a:r>
                <a:endParaRPr b="0" sz="850">
                  <a:solidFill>
                    <a:srgbClr val="94A3B8"/>
                  </a:solidFill>
                  <a:latin typeface="Inter SemiBold"/>
                  <a:ea typeface="Inter SemiBold"/>
                  <a:cs typeface="Inter SemiBold"/>
                  <a:sym typeface="Inter SemiBold"/>
                </a:endParaRPr>
              </a:p>
              <a:p>
                <a:pPr indent="0" lvl="0" marL="0" rtl="0" algn="l">
                  <a:spcBef>
                    <a:spcPts val="0"/>
                  </a:spcBef>
                  <a:spcAft>
                    <a:spcPts val="0"/>
                  </a:spcAft>
                  <a:buNone/>
                </a:pPr>
                <a:r>
                  <a:rPr b="0" lang="es" sz="1100">
                    <a:solidFill>
                      <a:srgbClr val="F8FAFC"/>
                    </a:solidFill>
                    <a:latin typeface="Inter SemiBold"/>
                    <a:ea typeface="Inter SemiBold"/>
                    <a:cs typeface="Inter SemiBold"/>
                    <a:sym typeface="Inter SemiBold"/>
                  </a:rPr>
                  <a:t>Transporte / Metro</a:t>
                </a:r>
                <a:endParaRPr b="0" sz="1100">
                  <a:solidFill>
                    <a:srgbClr val="F8FAFC"/>
                  </a:solidFill>
                  <a:latin typeface="Inter SemiBold"/>
                  <a:ea typeface="Inter SemiBold"/>
                  <a:cs typeface="Inter SemiBold"/>
                  <a:sym typeface="Inter SemiBold"/>
                </a:endParaRPr>
              </a:p>
            </p:txBody>
          </p:sp>
          <p:sp>
            <p:nvSpPr>
              <p:cNvPr id="232" name="Google Shape;232;p18"/>
              <p:cNvSpPr txBox="1"/>
              <p:nvPr/>
            </p:nvSpPr>
            <p:spPr>
              <a:xfrm>
                <a:off x="2667000" y="133350"/>
                <a:ext cx="9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900">
                    <a:solidFill>
                      <a:srgbClr val="94A3B8"/>
                    </a:solidFill>
                    <a:latin typeface="Inter SemiBold"/>
                    <a:ea typeface="Inter SemiBold"/>
                    <a:cs typeface="Inter SemiBold"/>
                    <a:sym typeface="Inter SemiBold"/>
                  </a:rPr>
                  <a:t>$1.25</a:t>
                </a:r>
                <a:endParaRPr b="0" sz="900">
                  <a:solidFill>
                    <a:srgbClr val="94A3B8"/>
                  </a:solidFill>
                  <a:latin typeface="Inter SemiBold"/>
                  <a:ea typeface="Inter SemiBold"/>
                  <a:cs typeface="Inter SemiBold"/>
                  <a:sym typeface="Inter SemiBold"/>
                </a:endParaRPr>
              </a:p>
            </p:txBody>
          </p:sp>
        </p:grpSp>
        <p:grpSp>
          <p:nvGrpSpPr>
            <p:cNvPr id="233" name="Google Shape;233;p18"/>
            <p:cNvGrpSpPr/>
            <p:nvPr/>
          </p:nvGrpSpPr>
          <p:grpSpPr>
            <a:xfrm>
              <a:off x="190500" y="1638300"/>
              <a:ext cx="3714900" cy="1143000"/>
              <a:chOff x="0" y="0"/>
              <a:chExt cx="3714900" cy="1143000"/>
            </a:xfrm>
          </p:grpSpPr>
          <p:sp>
            <p:nvSpPr>
              <p:cNvPr id="234" name="Google Shape;234;p18"/>
              <p:cNvSpPr/>
              <p:nvPr/>
            </p:nvSpPr>
            <p:spPr>
              <a:xfrm>
                <a:off x="0" y="0"/>
                <a:ext cx="3714900" cy="1143000"/>
              </a:xfrm>
              <a:prstGeom prst="roundRect">
                <a:avLst>
                  <a:gd fmla="val 8333" name="adj"/>
                </a:avLst>
              </a:prstGeom>
              <a:solidFill>
                <a:srgbClr val="1E3A8A">
                  <a:alpha val="35000"/>
                </a:srgbClr>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8"/>
              <p:cNvSpPr/>
              <p:nvPr/>
            </p:nvSpPr>
            <p:spPr>
              <a:xfrm>
                <a:off x="0" y="0"/>
                <a:ext cx="47700" cy="1143000"/>
              </a:xfrm>
              <a:prstGeom prst="roundRect">
                <a:avLst>
                  <a:gd fmla="val 4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8"/>
              <p:cNvSpPr/>
              <p:nvPr/>
            </p:nvSpPr>
            <p:spPr>
              <a:xfrm>
                <a:off x="180975" y="190500"/>
                <a:ext cx="304800" cy="304800"/>
              </a:xfrm>
              <a:prstGeom prst="ellipse">
                <a:avLst/>
              </a:prstGeom>
              <a:solidFill>
                <a:srgbClr val="10B981">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8"/>
              <p:cNvSpPr/>
              <p:nvPr/>
            </p:nvSpPr>
            <p:spPr>
              <a:xfrm>
                <a:off x="276225" y="247650"/>
                <a:ext cx="114300" cy="171600"/>
              </a:xfrm>
              <a:custGeom>
                <a:rect b="b" l="l" r="r" t="t"/>
                <a:pathLst>
                  <a:path extrusionOk="0" h="120000" w="120000">
                    <a:moveTo>
                      <a:pt x="60000" y="0"/>
                    </a:moveTo>
                    <a:lnTo>
                      <a:pt x="0" y="73333"/>
                    </a:lnTo>
                    <a:lnTo>
                      <a:pt x="60000" y="73333"/>
                    </a:lnTo>
                    <a:lnTo>
                      <a:pt x="30000" y="120000"/>
                    </a:lnTo>
                    <a:lnTo>
                      <a:pt x="120000" y="33333"/>
                    </a:lnTo>
                    <a:lnTo>
                      <a:pt x="60000" y="33333"/>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8"/>
              <p:cNvSpPr txBox="1"/>
              <p:nvPr/>
            </p:nvSpPr>
            <p:spPr>
              <a:xfrm>
                <a:off x="571500" y="152400"/>
                <a:ext cx="3000300" cy="8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50">
                    <a:solidFill>
                      <a:srgbClr val="10B981"/>
                    </a:solidFill>
                    <a:latin typeface="Inter SemiBold"/>
                    <a:ea typeface="Inter SemiBold"/>
                    <a:cs typeface="Inter SemiBold"/>
                    <a:sym typeface="Inter SemiBold"/>
                  </a:rPr>
                  <a:t>TIEMPO RÉCORD DE REGISTRO</a:t>
                </a:r>
                <a:endParaRPr b="0" sz="950">
                  <a:solidFill>
                    <a:srgbClr val="10B981"/>
                  </a:solidFill>
                  <a:latin typeface="Inter SemiBold"/>
                  <a:ea typeface="Inter SemiBold"/>
                  <a:cs typeface="Inter SemiBold"/>
                  <a:sym typeface="Inter SemiBold"/>
                </a:endParaRPr>
              </a:p>
              <a:p>
                <a:pPr indent="0" lvl="0" marL="0" rtl="0" algn="l">
                  <a:spcBef>
                    <a:spcPts val="300"/>
                  </a:spcBef>
                  <a:spcAft>
                    <a:spcPts val="0"/>
                  </a:spcAft>
                  <a:buNone/>
                </a:pPr>
                <a:r>
                  <a:rPr b="0" lang="es" sz="1150">
                    <a:solidFill>
                      <a:srgbClr val="F8FAFC"/>
                    </a:solidFill>
                    <a:latin typeface="Inter"/>
                    <a:ea typeface="Inter"/>
                    <a:cs typeface="Inter"/>
                    <a:sym typeface="Inter"/>
                  </a:rPr>
                  <a:t>¡Completado en </a:t>
                </a:r>
                <a:r>
                  <a:rPr b="1" lang="es" sz="1300">
                    <a:solidFill>
                      <a:srgbClr val="10B981"/>
                    </a:solidFill>
                    <a:latin typeface="Inter"/>
                    <a:ea typeface="Inter"/>
                    <a:cs typeface="Inter"/>
                    <a:sym typeface="Inter"/>
                  </a:rPr>
                  <a:t>literalmente 1 segundo</a:t>
                </a:r>
                <a:r>
                  <a:rPr b="0" lang="es" sz="1150">
                    <a:solidFill>
                      <a:srgbClr val="F8FAFC"/>
                    </a:solidFill>
                    <a:latin typeface="Inter"/>
                    <a:ea typeface="Inter"/>
                    <a:cs typeface="Inter"/>
                    <a:sym typeface="Inter"/>
                  </a:rPr>
                  <a:t>!</a:t>
                </a:r>
                <a:endParaRPr b="0" sz="1150">
                  <a:solidFill>
                    <a:srgbClr val="F8FAFC"/>
                  </a:solidFill>
                  <a:latin typeface="Inter"/>
                  <a:ea typeface="Inter"/>
                  <a:cs typeface="Inter"/>
                  <a:sym typeface="Inter"/>
                </a:endParaRPr>
              </a:p>
              <a:p>
                <a:pPr indent="0" lvl="0" marL="0" rtl="0" algn="l">
                  <a:spcBef>
                    <a:spcPts val="300"/>
                  </a:spcBef>
                  <a:spcAft>
                    <a:spcPts val="0"/>
                  </a:spcAft>
                  <a:buNone/>
                </a:pPr>
                <a:r>
                  <a:rPr b="0" lang="es" sz="950">
                    <a:solidFill>
                      <a:srgbClr val="94A3B8"/>
                    </a:solidFill>
                    <a:latin typeface="Inter"/>
                    <a:ea typeface="Inter"/>
                    <a:cs typeface="Inter"/>
                    <a:sym typeface="Inter"/>
                  </a:rPr>
                  <a:t>El despliegue del modal numérico gigante al pulsar ⚡ elimina pasos innecesarios para máxima velocidad.</a:t>
                </a:r>
                <a:endParaRPr b="0" sz="950">
                  <a:solidFill>
                    <a:srgbClr val="94A3B8"/>
                  </a:solidFill>
                  <a:latin typeface="Inter"/>
                  <a:ea typeface="Inter"/>
                  <a:cs typeface="Inter"/>
                  <a:sym typeface="Inter"/>
                </a:endParaRPr>
              </a:p>
            </p:txBody>
          </p:sp>
        </p:grpSp>
      </p:grpSp>
      <p:grpSp>
        <p:nvGrpSpPr>
          <p:cNvPr id="239" name="Google Shape;239;p18"/>
          <p:cNvGrpSpPr/>
          <p:nvPr/>
        </p:nvGrpSpPr>
        <p:grpSpPr>
          <a:xfrm>
            <a:off x="381000" y="4762500"/>
            <a:ext cx="8382000" cy="285750"/>
            <a:chOff x="381000" y="4762500"/>
            <a:chExt cx="8382000" cy="285750"/>
          </a:xfrm>
        </p:grpSpPr>
        <p:cxnSp>
          <p:nvCxnSpPr>
            <p:cNvPr id="240" name="Google Shape;240;p18"/>
            <p:cNvCxnSpPr/>
            <p:nvPr/>
          </p:nvCxnSpPr>
          <p:spPr>
            <a:xfrm>
              <a:off x="381000" y="476250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241" name="Google Shape;241;p18"/>
            <p:cNvSpPr txBox="1"/>
            <p:nvPr/>
          </p:nvSpPr>
          <p:spPr>
            <a:xfrm>
              <a:off x="381000" y="48577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94A3B8"/>
                  </a:solidFill>
                  <a:latin typeface="Inter SemiBold"/>
                  <a:ea typeface="Inter SemiBold"/>
                  <a:cs typeface="Inter SemiBold"/>
                  <a:sym typeface="Inter SemiBold"/>
                </a:rPr>
                <a:t>CONFIDENCIAL - USO INTERNO</a:t>
              </a:r>
              <a:endParaRPr b="0" sz="1000">
                <a:solidFill>
                  <a:srgbClr val="94A3B8"/>
                </a:solidFill>
                <a:latin typeface="Inter SemiBold"/>
                <a:ea typeface="Inter SemiBold"/>
                <a:cs typeface="Inter SemiBold"/>
                <a:sym typeface="Inter SemiBold"/>
              </a:endParaRPr>
            </a:p>
          </p:txBody>
        </p:sp>
        <p:sp>
          <p:nvSpPr>
            <p:cNvPr id="242" name="Google Shape;242;p18"/>
            <p:cNvSpPr txBox="1"/>
            <p:nvPr/>
          </p:nvSpPr>
          <p:spPr>
            <a:xfrm>
              <a:off x="7810500" y="4857750"/>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1000">
                  <a:solidFill>
                    <a:srgbClr val="94A3B8"/>
                  </a:solidFill>
                  <a:latin typeface="Inter SemiBold"/>
                  <a:ea typeface="Inter SemiBold"/>
                  <a:cs typeface="Inter SemiBold"/>
                  <a:sym typeface="Inter SemiBold"/>
                </a:rPr>
                <a:t>2023-10-25</a:t>
              </a:r>
              <a:endParaRPr b="0" sz="1000">
                <a:solidFill>
                  <a:srgbClr val="94A3B8"/>
                </a:solidFill>
                <a:latin typeface="Inter SemiBold"/>
                <a:ea typeface="Inter SemiBold"/>
                <a:cs typeface="Inter SemiBold"/>
                <a:sym typeface="Inter Semi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grpSp>
        <p:nvGrpSpPr>
          <p:cNvPr id="247" name="Google Shape;247;p19"/>
          <p:cNvGrpSpPr/>
          <p:nvPr/>
        </p:nvGrpSpPr>
        <p:grpSpPr>
          <a:xfrm>
            <a:off x="0" y="0"/>
            <a:ext cx="9144000" cy="5143500"/>
            <a:chOff x="0" y="0"/>
            <a:chExt cx="9144000" cy="5143500"/>
          </a:xfrm>
        </p:grpSpPr>
        <p:sp>
          <p:nvSpPr>
            <p:cNvPr id="248" name="Google Shape;248;p19"/>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9"/>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9"/>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51" name="Google Shape;251;p19"/>
          <p:cNvGrpSpPr/>
          <p:nvPr/>
        </p:nvGrpSpPr>
        <p:grpSpPr>
          <a:xfrm>
            <a:off x="438150" y="331470"/>
            <a:ext cx="1000125" cy="228600"/>
            <a:chOff x="95250" y="76200"/>
            <a:chExt cx="1666875" cy="381000"/>
          </a:xfrm>
        </p:grpSpPr>
        <p:sp>
          <p:nvSpPr>
            <p:cNvPr id="252" name="Google Shape;252;p19"/>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9"/>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9"/>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400">
                  <a:solidFill>
                    <a:srgbClr val="F8FAFC"/>
                  </a:solidFill>
                  <a:latin typeface="Montserrat"/>
                  <a:ea typeface="Montserrat"/>
                  <a:cs typeface="Montserrat"/>
                  <a:sym typeface="Montserrat"/>
                </a:rPr>
                <a:t>FinApp</a:t>
              </a:r>
              <a:endParaRPr b="1" sz="1400">
                <a:solidFill>
                  <a:srgbClr val="F8FAFC"/>
                </a:solidFill>
                <a:latin typeface="Montserrat"/>
                <a:ea typeface="Montserrat"/>
                <a:cs typeface="Montserrat"/>
                <a:sym typeface="Montserrat"/>
              </a:endParaRPr>
            </a:p>
          </p:txBody>
        </p:sp>
      </p:grpSp>
      <p:sp>
        <p:nvSpPr>
          <p:cNvPr id="255" name="Google Shape;255;p19"/>
          <p:cNvSpPr txBox="1"/>
          <p:nvPr/>
        </p:nvSpPr>
        <p:spPr>
          <a:xfrm>
            <a:off x="381000" y="66675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1" lang="es" sz="2200">
                <a:solidFill>
                  <a:srgbClr val="F8FAFC"/>
                </a:solidFill>
                <a:latin typeface="Montserrat"/>
                <a:ea typeface="Montserrat"/>
                <a:cs typeface="Montserrat"/>
                <a:sym typeface="Montserrat"/>
              </a:rPr>
              <a:t>Presupuestos y Semáforo de Control: Prevención y Alertas Visuales</a:t>
            </a:r>
            <a:endParaRPr b="1" sz="2200">
              <a:solidFill>
                <a:srgbClr val="F8FAFC"/>
              </a:solidFill>
              <a:latin typeface="Montserrat"/>
              <a:ea typeface="Montserrat"/>
              <a:cs typeface="Montserrat"/>
              <a:sym typeface="Montserrat"/>
            </a:endParaRPr>
          </a:p>
        </p:txBody>
      </p:sp>
      <p:grpSp>
        <p:nvGrpSpPr>
          <p:cNvPr id="256" name="Google Shape;256;p19"/>
          <p:cNvGrpSpPr/>
          <p:nvPr/>
        </p:nvGrpSpPr>
        <p:grpSpPr>
          <a:xfrm>
            <a:off x="381000" y="1428750"/>
            <a:ext cx="2533800" cy="3143400"/>
            <a:chOff x="381000" y="1428750"/>
            <a:chExt cx="2533800" cy="3143400"/>
          </a:xfrm>
        </p:grpSpPr>
        <p:sp>
          <p:nvSpPr>
            <p:cNvPr id="257" name="Google Shape;257;p19"/>
            <p:cNvSpPr/>
            <p:nvPr/>
          </p:nvSpPr>
          <p:spPr>
            <a:xfrm>
              <a:off x="381000" y="1428750"/>
              <a:ext cx="2533800" cy="3143400"/>
            </a:xfrm>
            <a:prstGeom prst="roundRect">
              <a:avLst>
                <a:gd fmla="val 4511"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9"/>
            <p:cNvSpPr txBox="1"/>
            <p:nvPr/>
          </p:nvSpPr>
          <p:spPr>
            <a:xfrm>
              <a:off x="533400" y="1619250"/>
              <a:ext cx="2229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3B82F6"/>
                  </a:solidFill>
                  <a:latin typeface="Inter SemiBold"/>
                  <a:ea typeface="Inter SemiBold"/>
                  <a:cs typeface="Inter SemiBold"/>
                  <a:sym typeface="Inter SemiBold"/>
                </a:rPr>
                <a:t>01. LÍMITES Y CATEGORÍAS</a:t>
              </a:r>
              <a:endParaRPr b="0" sz="900">
                <a:solidFill>
                  <a:srgbClr val="3B82F6"/>
                </a:solidFill>
                <a:latin typeface="Inter SemiBold"/>
                <a:ea typeface="Inter SemiBold"/>
                <a:cs typeface="Inter SemiBold"/>
                <a:sym typeface="Inter SemiBold"/>
              </a:endParaRPr>
            </a:p>
            <a:p>
              <a:pPr indent="0" lvl="0" marL="0" rtl="0" algn="l">
                <a:spcBef>
                  <a:spcPts val="450"/>
                </a:spcBef>
                <a:spcAft>
                  <a:spcPts val="0"/>
                </a:spcAft>
                <a:buNone/>
              </a:pPr>
              <a:r>
                <a:rPr b="1" lang="es" sz="1300">
                  <a:solidFill>
                    <a:srgbClr val="F8FAFC"/>
                  </a:solidFill>
                  <a:latin typeface="Inter"/>
                  <a:ea typeface="Inter"/>
                  <a:cs typeface="Inter"/>
                  <a:sym typeface="Inter"/>
                </a:rPr>
                <a:t>Metas Mensuales por Categoría</a:t>
              </a:r>
              <a:endParaRPr b="1" sz="1300">
                <a:solidFill>
                  <a:srgbClr val="F8FAFC"/>
                </a:solidFill>
                <a:latin typeface="Inter"/>
                <a:ea typeface="Inter"/>
                <a:cs typeface="Inter"/>
                <a:sym typeface="Inter"/>
              </a:endParaRPr>
            </a:p>
            <a:p>
              <a:pPr indent="-317500" lvl="0" marL="457200" rtl="0" algn="l">
                <a:spcBef>
                  <a:spcPts val="900"/>
                </a:spcBef>
                <a:spcAft>
                  <a:spcPts val="0"/>
                </a:spcAft>
                <a:buSzPts val="1400"/>
                <a:buChar char="●"/>
              </a:pPr>
              <a:r>
                <a:rPr b="0" lang="es" sz="1100">
                  <a:solidFill>
                    <a:srgbClr val="CBD5E1"/>
                  </a:solidFill>
                  <a:latin typeface="Inter"/>
                  <a:ea typeface="Inter"/>
                  <a:cs typeface="Inter"/>
                  <a:sym typeface="Inter"/>
                </a:rPr>
                <a:t>Definición de límites mensuales de gasto por categoría (supermercado, ocio, transporte).</a:t>
              </a:r>
              <a:endParaRPr b="0" sz="1100">
                <a:solidFill>
                  <a:srgbClr val="CBD5E1"/>
                </a:solidFill>
                <a:latin typeface="Inter"/>
                <a:ea typeface="Inter"/>
                <a:cs typeface="Inter"/>
                <a:sym typeface="Inter"/>
              </a:endParaRPr>
            </a:p>
            <a:p>
              <a:pPr indent="-317500" lvl="0" marL="457200" rtl="0" algn="l">
                <a:spcBef>
                  <a:spcPts val="900"/>
                </a:spcBef>
                <a:spcAft>
                  <a:spcPts val="0"/>
                </a:spcAft>
                <a:buSzPts val="1400"/>
                <a:buChar char="●"/>
              </a:pPr>
              <a:r>
                <a:rPr b="0" lang="es" sz="1100">
                  <a:solidFill>
                    <a:srgbClr val="CBD5E1"/>
                  </a:solidFill>
                  <a:latin typeface="Inter"/>
                  <a:ea typeface="Inter"/>
                  <a:cs typeface="Inter"/>
                  <a:sym typeface="Inter"/>
                </a:rPr>
                <a:t>Control granular que evita fugas de dinero en áreas problemáticas.</a:t>
              </a:r>
              <a:endParaRPr b="0" sz="1100">
                <a:solidFill>
                  <a:srgbClr val="CBD5E1"/>
                </a:solidFill>
                <a:latin typeface="Inter"/>
                <a:ea typeface="Inter"/>
                <a:cs typeface="Inter"/>
                <a:sym typeface="Inter"/>
              </a:endParaRPr>
            </a:p>
          </p:txBody>
        </p:sp>
        <p:grpSp>
          <p:nvGrpSpPr>
            <p:cNvPr id="259" name="Google Shape;259;p19"/>
            <p:cNvGrpSpPr/>
            <p:nvPr/>
          </p:nvGrpSpPr>
          <p:grpSpPr>
            <a:xfrm>
              <a:off x="533400" y="4000500"/>
              <a:ext cx="2143275" cy="209700"/>
              <a:chOff x="0" y="0"/>
              <a:chExt cx="2143275" cy="209700"/>
            </a:xfrm>
          </p:grpSpPr>
          <p:sp>
            <p:nvSpPr>
              <p:cNvPr id="260" name="Google Shape;260;p19"/>
              <p:cNvSpPr/>
              <p:nvPr/>
            </p:nvSpPr>
            <p:spPr>
              <a:xfrm>
                <a:off x="0" y="0"/>
                <a:ext cx="647700" cy="209700"/>
              </a:xfrm>
              <a:prstGeom prst="roundRect">
                <a:avLst>
                  <a:gd fmla="val 50000" name="adj"/>
                </a:avLst>
              </a:prstGeom>
              <a:solidFill>
                <a:srgbClr val="3B82F6">
                  <a:alpha val="15000"/>
                </a:srgbClr>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9"/>
              <p:cNvSpPr txBox="1"/>
              <p:nvPr/>
            </p:nvSpPr>
            <p:spPr>
              <a:xfrm>
                <a:off x="0" y="19050"/>
                <a:ext cx="647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750">
                    <a:solidFill>
                      <a:srgbClr val="3B82F6"/>
                    </a:solidFill>
                    <a:latin typeface="Inter SemiBold"/>
                    <a:ea typeface="Inter SemiBold"/>
                    <a:cs typeface="Inter SemiBold"/>
                    <a:sym typeface="Inter SemiBold"/>
                  </a:rPr>
                  <a:t>SUPER</a:t>
                </a:r>
                <a:endParaRPr b="0" sz="750">
                  <a:solidFill>
                    <a:srgbClr val="3B82F6"/>
                  </a:solidFill>
                  <a:latin typeface="Inter SemiBold"/>
                  <a:ea typeface="Inter SemiBold"/>
                  <a:cs typeface="Inter SemiBold"/>
                  <a:sym typeface="Inter SemiBold"/>
                </a:endParaRPr>
              </a:p>
            </p:txBody>
          </p:sp>
          <p:sp>
            <p:nvSpPr>
              <p:cNvPr id="262" name="Google Shape;262;p19"/>
              <p:cNvSpPr/>
              <p:nvPr/>
            </p:nvSpPr>
            <p:spPr>
              <a:xfrm>
                <a:off x="704850" y="0"/>
                <a:ext cx="523800" cy="209700"/>
              </a:xfrm>
              <a:prstGeom prst="roundRect">
                <a:avLst>
                  <a:gd fmla="val 50000" name="adj"/>
                </a:avLst>
              </a:prstGeom>
              <a:solidFill>
                <a:srgbClr val="10B981">
                  <a:alpha val="15000"/>
                </a:srgbClr>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9"/>
              <p:cNvSpPr txBox="1"/>
              <p:nvPr/>
            </p:nvSpPr>
            <p:spPr>
              <a:xfrm>
                <a:off x="704850" y="19050"/>
                <a:ext cx="523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750">
                    <a:solidFill>
                      <a:srgbClr val="10B981"/>
                    </a:solidFill>
                    <a:latin typeface="Inter SemiBold"/>
                    <a:ea typeface="Inter SemiBold"/>
                    <a:cs typeface="Inter SemiBold"/>
                    <a:sym typeface="Inter SemiBold"/>
                  </a:rPr>
                  <a:t>OCIO</a:t>
                </a:r>
                <a:endParaRPr b="0" sz="750">
                  <a:solidFill>
                    <a:srgbClr val="10B981"/>
                  </a:solidFill>
                  <a:latin typeface="Inter SemiBold"/>
                  <a:ea typeface="Inter SemiBold"/>
                  <a:cs typeface="Inter SemiBold"/>
                  <a:sym typeface="Inter SemiBold"/>
                </a:endParaRPr>
              </a:p>
            </p:txBody>
          </p:sp>
          <p:sp>
            <p:nvSpPr>
              <p:cNvPr id="264" name="Google Shape;264;p19"/>
              <p:cNvSpPr/>
              <p:nvPr/>
            </p:nvSpPr>
            <p:spPr>
              <a:xfrm>
                <a:off x="1285875" y="0"/>
                <a:ext cx="857400" cy="209700"/>
              </a:xfrm>
              <a:prstGeom prst="roundRect">
                <a:avLst>
                  <a:gd fmla="val 50000" name="adj"/>
                </a:avLst>
              </a:prstGeom>
              <a:solidFill>
                <a:srgbClr val="F59E0B">
                  <a:alpha val="15000"/>
                </a:srgbClr>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19"/>
              <p:cNvSpPr txBox="1"/>
              <p:nvPr/>
            </p:nvSpPr>
            <p:spPr>
              <a:xfrm>
                <a:off x="1285875" y="19050"/>
                <a:ext cx="8574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750">
                    <a:solidFill>
                      <a:srgbClr val="F59E0B"/>
                    </a:solidFill>
                    <a:latin typeface="Inter SemiBold"/>
                    <a:ea typeface="Inter SemiBold"/>
                    <a:cs typeface="Inter SemiBold"/>
                    <a:sym typeface="Inter SemiBold"/>
                  </a:rPr>
                  <a:t>TRANSPORTE</a:t>
                </a:r>
                <a:endParaRPr b="0" sz="750">
                  <a:solidFill>
                    <a:srgbClr val="F59E0B"/>
                  </a:solidFill>
                  <a:latin typeface="Inter SemiBold"/>
                  <a:ea typeface="Inter SemiBold"/>
                  <a:cs typeface="Inter SemiBold"/>
                  <a:sym typeface="Inter SemiBold"/>
                </a:endParaRPr>
              </a:p>
            </p:txBody>
          </p:sp>
        </p:grpSp>
      </p:grpSp>
      <p:grpSp>
        <p:nvGrpSpPr>
          <p:cNvPr id="266" name="Google Shape;266;p19"/>
          <p:cNvGrpSpPr/>
          <p:nvPr/>
        </p:nvGrpSpPr>
        <p:grpSpPr>
          <a:xfrm>
            <a:off x="3295650" y="1428750"/>
            <a:ext cx="2533800" cy="3143400"/>
            <a:chOff x="3295650" y="1428750"/>
            <a:chExt cx="2533800" cy="3143400"/>
          </a:xfrm>
        </p:grpSpPr>
        <p:sp>
          <p:nvSpPr>
            <p:cNvPr id="267" name="Google Shape;267;p19"/>
            <p:cNvSpPr/>
            <p:nvPr/>
          </p:nvSpPr>
          <p:spPr>
            <a:xfrm>
              <a:off x="3295650" y="1428750"/>
              <a:ext cx="2533800" cy="3143400"/>
            </a:xfrm>
            <a:prstGeom prst="roundRect">
              <a:avLst>
                <a:gd fmla="val 4511"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9"/>
            <p:cNvSpPr txBox="1"/>
            <p:nvPr/>
          </p:nvSpPr>
          <p:spPr>
            <a:xfrm>
              <a:off x="3448050" y="1619250"/>
              <a:ext cx="2229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33">
                  <a:solidFill>
                    <a:srgbClr val="10B981"/>
                  </a:solidFill>
                  <a:latin typeface="Inter SemiBold"/>
                  <a:ea typeface="Inter SemiBold"/>
                  <a:cs typeface="Inter SemiBold"/>
                  <a:sym typeface="Inter SemiBold"/>
                </a:rPr>
                <a:t>02. CONTROL VISUAL</a:t>
              </a:r>
              <a:endParaRPr b="0" sz="833">
                <a:solidFill>
                  <a:srgbClr val="10B981"/>
                </a:solidFill>
                <a:latin typeface="Inter SemiBold"/>
                <a:ea typeface="Inter SemiBold"/>
                <a:cs typeface="Inter SemiBold"/>
                <a:sym typeface="Inter SemiBold"/>
              </a:endParaRPr>
            </a:p>
            <a:p>
              <a:pPr indent="0" lvl="0" marL="0" rtl="0" algn="l">
                <a:spcBef>
                  <a:spcPts val="450"/>
                </a:spcBef>
                <a:spcAft>
                  <a:spcPts val="300"/>
                </a:spcAft>
                <a:buNone/>
              </a:pPr>
              <a:r>
                <a:rPr b="1" lang="es" sz="1203">
                  <a:solidFill>
                    <a:srgbClr val="F8FAFC"/>
                  </a:solidFill>
                  <a:latin typeface="Inter"/>
                  <a:ea typeface="Inter"/>
                  <a:cs typeface="Inter"/>
                  <a:sym typeface="Inter"/>
                </a:rPr>
                <a:t>Sistema de Alertas Visuales (Semáforo)</a:t>
              </a:r>
              <a:endParaRPr b="1" sz="1203">
                <a:solidFill>
                  <a:srgbClr val="F8FAFC"/>
                </a:solidFill>
                <a:latin typeface="Inter"/>
                <a:ea typeface="Inter"/>
                <a:cs typeface="Inter"/>
                <a:sym typeface="Inter"/>
              </a:endParaRPr>
            </a:p>
          </p:txBody>
        </p:sp>
        <p:grpSp>
          <p:nvGrpSpPr>
            <p:cNvPr id="269" name="Google Shape;269;p19"/>
            <p:cNvGrpSpPr/>
            <p:nvPr/>
          </p:nvGrpSpPr>
          <p:grpSpPr>
            <a:xfrm>
              <a:off x="3443288" y="2185988"/>
              <a:ext cx="2238300" cy="2105100"/>
              <a:chOff x="-4762" y="-4762"/>
              <a:chExt cx="2238300" cy="2105100"/>
            </a:xfrm>
          </p:grpSpPr>
          <p:pic>
            <p:nvPicPr>
              <p:cNvPr id="270" name="Google Shape;270;p19"/>
              <p:cNvPicPr preferRelativeResize="0"/>
              <p:nvPr/>
            </p:nvPicPr>
            <p:blipFill rotWithShape="1">
              <a:blip r:embed="rId3">
                <a:alphaModFix/>
              </a:blip>
              <a:srcRect b="0" l="0" r="0" t="0"/>
              <a:stretch/>
            </p:blipFill>
            <p:spPr>
              <a:xfrm>
                <a:off x="-4762" y="-4762"/>
                <a:ext cx="2238300" cy="657300"/>
              </a:xfrm>
              <a:prstGeom prst="rect">
                <a:avLst/>
              </a:prstGeom>
              <a:noFill/>
              <a:ln>
                <a:noFill/>
              </a:ln>
            </p:spPr>
          </p:pic>
          <p:sp>
            <p:nvSpPr>
              <p:cNvPr id="271" name="Google Shape;271;p19"/>
              <p:cNvSpPr/>
              <p:nvPr/>
            </p:nvSpPr>
            <p:spPr>
              <a:xfrm>
                <a:off x="123825" y="161925"/>
                <a:ext cx="133500" cy="1335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9"/>
              <p:cNvSpPr/>
              <p:nvPr/>
            </p:nvSpPr>
            <p:spPr>
              <a:xfrm>
                <a:off x="323850" y="190500"/>
                <a:ext cx="1190700" cy="76200"/>
              </a:xfrm>
              <a:prstGeom prst="roundRect">
                <a:avLst>
                  <a:gd fmla="val 50000" name="adj"/>
                </a:avLst>
              </a:prstGeom>
              <a:solidFill>
                <a:srgbClr val="10B981">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9"/>
              <p:cNvSpPr/>
              <p:nvPr/>
            </p:nvSpPr>
            <p:spPr>
              <a:xfrm>
                <a:off x="323850" y="190500"/>
                <a:ext cx="762000" cy="762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19"/>
              <p:cNvSpPr txBox="1"/>
              <p:nvPr/>
            </p:nvSpPr>
            <p:spPr>
              <a:xfrm>
                <a:off x="1571625" y="1333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0">
                    <a:solidFill>
                      <a:srgbClr val="10B981"/>
                    </a:solidFill>
                    <a:latin typeface="Inter SemiBold"/>
                    <a:ea typeface="Inter SemiBold"/>
                    <a:cs typeface="Inter SemiBold"/>
                    <a:sym typeface="Inter SemiBold"/>
                  </a:rPr>
                  <a:t>&lt;85%</a:t>
                </a:r>
                <a:endParaRPr b="0" sz="800">
                  <a:solidFill>
                    <a:srgbClr val="10B981"/>
                  </a:solidFill>
                  <a:latin typeface="Inter SemiBold"/>
                  <a:ea typeface="Inter SemiBold"/>
                  <a:cs typeface="Inter SemiBold"/>
                  <a:sym typeface="Inter SemiBold"/>
                </a:endParaRPr>
              </a:p>
            </p:txBody>
          </p:sp>
          <p:sp>
            <p:nvSpPr>
              <p:cNvPr id="275" name="Google Shape;275;p19"/>
              <p:cNvSpPr txBox="1"/>
              <p:nvPr/>
            </p:nvSpPr>
            <p:spPr>
              <a:xfrm>
                <a:off x="114300" y="361950"/>
                <a:ext cx="20001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8">
                    <a:solidFill>
                      <a:srgbClr val="F8FAFC"/>
                    </a:solidFill>
                    <a:latin typeface="Inter"/>
                    <a:ea typeface="Inter"/>
                    <a:cs typeface="Inter"/>
                    <a:sym typeface="Inter"/>
                  </a:rPr>
                  <a:t>Estado de seguridad financiera con margen superior al 15%.</a:t>
                </a:r>
                <a:endParaRPr b="0" sz="808">
                  <a:solidFill>
                    <a:srgbClr val="F8FAFC"/>
                  </a:solidFill>
                  <a:latin typeface="Inter"/>
                  <a:ea typeface="Inter"/>
                  <a:cs typeface="Inter"/>
                  <a:sym typeface="Inter"/>
                </a:endParaRPr>
              </a:p>
            </p:txBody>
          </p:sp>
          <p:pic>
            <p:nvPicPr>
              <p:cNvPr id="276" name="Google Shape;276;p19"/>
              <p:cNvPicPr preferRelativeResize="0"/>
              <p:nvPr/>
            </p:nvPicPr>
            <p:blipFill rotWithShape="1">
              <a:blip r:embed="rId4">
                <a:alphaModFix/>
              </a:blip>
              <a:srcRect b="0" l="0" r="0" t="0"/>
              <a:stretch/>
            </p:blipFill>
            <p:spPr>
              <a:xfrm>
                <a:off x="-4762" y="719138"/>
                <a:ext cx="2238300" cy="657300"/>
              </a:xfrm>
              <a:prstGeom prst="rect">
                <a:avLst/>
              </a:prstGeom>
              <a:noFill/>
              <a:ln>
                <a:noFill/>
              </a:ln>
            </p:spPr>
          </p:pic>
          <p:sp>
            <p:nvSpPr>
              <p:cNvPr id="277" name="Google Shape;277;p19"/>
              <p:cNvSpPr/>
              <p:nvPr/>
            </p:nvSpPr>
            <p:spPr>
              <a:xfrm>
                <a:off x="123825" y="885825"/>
                <a:ext cx="133500" cy="1335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19"/>
              <p:cNvSpPr/>
              <p:nvPr/>
            </p:nvSpPr>
            <p:spPr>
              <a:xfrm>
                <a:off x="323850" y="914400"/>
                <a:ext cx="1190700" cy="76200"/>
              </a:xfrm>
              <a:prstGeom prst="roundRect">
                <a:avLst>
                  <a:gd fmla="val 50000" name="adj"/>
                </a:avLst>
              </a:prstGeom>
              <a:solidFill>
                <a:srgbClr val="F59E0B">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19"/>
              <p:cNvSpPr/>
              <p:nvPr/>
            </p:nvSpPr>
            <p:spPr>
              <a:xfrm>
                <a:off x="323850" y="914400"/>
                <a:ext cx="1047900" cy="762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9"/>
              <p:cNvSpPr txBox="1"/>
              <p:nvPr/>
            </p:nvSpPr>
            <p:spPr>
              <a:xfrm>
                <a:off x="1571625" y="8572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0">
                    <a:solidFill>
                      <a:srgbClr val="F59E0B"/>
                    </a:solidFill>
                    <a:latin typeface="Inter SemiBold"/>
                    <a:ea typeface="Inter SemiBold"/>
                    <a:cs typeface="Inter SemiBold"/>
                    <a:sym typeface="Inter SemiBold"/>
                  </a:rPr>
                  <a:t>85-100%</a:t>
                </a:r>
                <a:endParaRPr b="0" sz="800">
                  <a:solidFill>
                    <a:srgbClr val="F59E0B"/>
                  </a:solidFill>
                  <a:latin typeface="Inter SemiBold"/>
                  <a:ea typeface="Inter SemiBold"/>
                  <a:cs typeface="Inter SemiBold"/>
                  <a:sym typeface="Inter SemiBold"/>
                </a:endParaRPr>
              </a:p>
            </p:txBody>
          </p:sp>
          <p:sp>
            <p:nvSpPr>
              <p:cNvPr id="281" name="Google Shape;281;p19"/>
              <p:cNvSpPr txBox="1"/>
              <p:nvPr/>
            </p:nvSpPr>
            <p:spPr>
              <a:xfrm>
                <a:off x="114300" y="1085850"/>
                <a:ext cx="20001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8">
                    <a:solidFill>
                      <a:srgbClr val="F8FAFC"/>
                    </a:solidFill>
                    <a:latin typeface="Inter"/>
                    <a:ea typeface="Inter"/>
                    <a:cs typeface="Inter"/>
                    <a:sym typeface="Inter"/>
                  </a:rPr>
                  <a:t>Advertencia temprana para moderar el gasto.</a:t>
                </a:r>
                <a:endParaRPr b="0" sz="808">
                  <a:solidFill>
                    <a:srgbClr val="F8FAFC"/>
                  </a:solidFill>
                  <a:latin typeface="Inter"/>
                  <a:ea typeface="Inter"/>
                  <a:cs typeface="Inter"/>
                  <a:sym typeface="Inter"/>
                </a:endParaRPr>
              </a:p>
            </p:txBody>
          </p:sp>
          <p:pic>
            <p:nvPicPr>
              <p:cNvPr id="282" name="Google Shape;282;p19"/>
              <p:cNvPicPr preferRelativeResize="0"/>
              <p:nvPr/>
            </p:nvPicPr>
            <p:blipFill rotWithShape="1">
              <a:blip r:embed="rId5">
                <a:alphaModFix/>
              </a:blip>
              <a:srcRect b="0" l="0" r="0" t="0"/>
              <a:stretch/>
            </p:blipFill>
            <p:spPr>
              <a:xfrm>
                <a:off x="-4762" y="1443038"/>
                <a:ext cx="2238300" cy="657300"/>
              </a:xfrm>
              <a:prstGeom prst="rect">
                <a:avLst/>
              </a:prstGeom>
              <a:noFill/>
              <a:ln>
                <a:noFill/>
              </a:ln>
            </p:spPr>
          </p:pic>
          <p:sp>
            <p:nvSpPr>
              <p:cNvPr id="283" name="Google Shape;283;p19"/>
              <p:cNvSpPr/>
              <p:nvPr/>
            </p:nvSpPr>
            <p:spPr>
              <a:xfrm>
                <a:off x="123825" y="1609725"/>
                <a:ext cx="133500" cy="1335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19"/>
              <p:cNvSpPr/>
              <p:nvPr/>
            </p:nvSpPr>
            <p:spPr>
              <a:xfrm>
                <a:off x="323850" y="1638300"/>
                <a:ext cx="1190700" cy="76200"/>
              </a:xfrm>
              <a:prstGeom prst="roundRect">
                <a:avLst>
                  <a:gd fmla="val 50000" name="adj"/>
                </a:avLst>
              </a:prstGeom>
              <a:solidFill>
                <a:srgbClr val="EF4444">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9"/>
              <p:cNvSpPr/>
              <p:nvPr/>
            </p:nvSpPr>
            <p:spPr>
              <a:xfrm>
                <a:off x="323850" y="1638300"/>
                <a:ext cx="1190700" cy="762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9"/>
              <p:cNvSpPr txBox="1"/>
              <p:nvPr/>
            </p:nvSpPr>
            <p:spPr>
              <a:xfrm>
                <a:off x="1571625" y="15811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0">
                    <a:solidFill>
                      <a:srgbClr val="EF4444"/>
                    </a:solidFill>
                    <a:latin typeface="Inter SemiBold"/>
                    <a:ea typeface="Inter SemiBold"/>
                    <a:cs typeface="Inter SemiBold"/>
                    <a:sym typeface="Inter SemiBold"/>
                  </a:rPr>
                  <a:t>&gt;100%</a:t>
                </a:r>
                <a:endParaRPr b="0" sz="800">
                  <a:solidFill>
                    <a:srgbClr val="EF4444"/>
                  </a:solidFill>
                  <a:latin typeface="Inter SemiBold"/>
                  <a:ea typeface="Inter SemiBold"/>
                  <a:cs typeface="Inter SemiBold"/>
                  <a:sym typeface="Inter SemiBold"/>
                </a:endParaRPr>
              </a:p>
            </p:txBody>
          </p:sp>
          <p:sp>
            <p:nvSpPr>
              <p:cNvPr id="287" name="Google Shape;287;p19"/>
              <p:cNvSpPr txBox="1"/>
              <p:nvPr/>
            </p:nvSpPr>
            <p:spPr>
              <a:xfrm>
                <a:off x="114300" y="1809750"/>
                <a:ext cx="20001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08">
                    <a:solidFill>
                      <a:srgbClr val="F8FAFC"/>
                    </a:solidFill>
                    <a:latin typeface="Inter"/>
                    <a:ea typeface="Inter"/>
                    <a:cs typeface="Inter"/>
                    <a:sym typeface="Inter"/>
                  </a:rPr>
                  <a:t>Alerta crítica de sobregiro que requiere atención inmediata.</a:t>
                </a:r>
                <a:endParaRPr b="0" sz="808">
                  <a:solidFill>
                    <a:srgbClr val="F8FAFC"/>
                  </a:solidFill>
                  <a:latin typeface="Inter"/>
                  <a:ea typeface="Inter"/>
                  <a:cs typeface="Inter"/>
                  <a:sym typeface="Inter"/>
                </a:endParaRPr>
              </a:p>
            </p:txBody>
          </p:sp>
        </p:grpSp>
      </p:grpSp>
      <p:grpSp>
        <p:nvGrpSpPr>
          <p:cNvPr id="288" name="Google Shape;288;p19"/>
          <p:cNvGrpSpPr/>
          <p:nvPr/>
        </p:nvGrpSpPr>
        <p:grpSpPr>
          <a:xfrm>
            <a:off x="6210300" y="1428750"/>
            <a:ext cx="2533800" cy="3143400"/>
            <a:chOff x="6210300" y="1428750"/>
            <a:chExt cx="2533800" cy="3143400"/>
          </a:xfrm>
        </p:grpSpPr>
        <p:sp>
          <p:nvSpPr>
            <p:cNvPr id="289" name="Google Shape;289;p19"/>
            <p:cNvSpPr/>
            <p:nvPr/>
          </p:nvSpPr>
          <p:spPr>
            <a:xfrm>
              <a:off x="6210300" y="1428750"/>
              <a:ext cx="2533800" cy="3143400"/>
            </a:xfrm>
            <a:prstGeom prst="roundRect">
              <a:avLst>
                <a:gd fmla="val 4511"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9"/>
            <p:cNvSpPr txBox="1"/>
            <p:nvPr/>
          </p:nvSpPr>
          <p:spPr>
            <a:xfrm>
              <a:off x="6362700" y="1619250"/>
              <a:ext cx="2229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3B82F6"/>
                  </a:solidFill>
                  <a:latin typeface="Inter SemiBold"/>
                  <a:ea typeface="Inter SemiBold"/>
                  <a:cs typeface="Inter SemiBold"/>
                  <a:sym typeface="Inter SemiBold"/>
                </a:rPr>
                <a:t>03. AUTOMATIZACIÓN</a:t>
              </a:r>
              <a:endParaRPr b="0" sz="900">
                <a:solidFill>
                  <a:srgbClr val="3B82F6"/>
                </a:solidFill>
                <a:latin typeface="Inter SemiBold"/>
                <a:ea typeface="Inter SemiBold"/>
                <a:cs typeface="Inter SemiBold"/>
                <a:sym typeface="Inter SemiBold"/>
              </a:endParaRPr>
            </a:p>
            <a:p>
              <a:pPr indent="0" lvl="0" marL="0" rtl="0" algn="l">
                <a:spcBef>
                  <a:spcPts val="450"/>
                </a:spcBef>
                <a:spcAft>
                  <a:spcPts val="0"/>
                </a:spcAft>
                <a:buNone/>
              </a:pPr>
              <a:r>
                <a:rPr b="1" lang="es" sz="1300">
                  <a:solidFill>
                    <a:srgbClr val="F8FAFC"/>
                  </a:solidFill>
                  <a:latin typeface="Inter"/>
                  <a:ea typeface="Inter"/>
                  <a:cs typeface="Inter"/>
                  <a:sym typeface="Inter"/>
                </a:rPr>
                <a:t>Clonación 'Copiar del Mes Anterior'</a:t>
              </a:r>
              <a:endParaRPr b="1" sz="1300">
                <a:solidFill>
                  <a:srgbClr val="F8FAFC"/>
                </a:solidFill>
                <a:latin typeface="Inter"/>
                <a:ea typeface="Inter"/>
                <a:cs typeface="Inter"/>
                <a:sym typeface="Inter"/>
              </a:endParaRPr>
            </a:p>
            <a:p>
              <a:pPr indent="-317500" lvl="0" marL="457200" rtl="0" algn="l">
                <a:spcBef>
                  <a:spcPts val="900"/>
                </a:spcBef>
                <a:spcAft>
                  <a:spcPts val="0"/>
                </a:spcAft>
                <a:buSzPts val="1400"/>
                <a:buChar char="●"/>
              </a:pPr>
              <a:r>
                <a:rPr b="0" lang="es" sz="1100">
                  <a:solidFill>
                    <a:srgbClr val="CBD5E1"/>
                  </a:solidFill>
                  <a:latin typeface="Inter"/>
                  <a:ea typeface="Inter"/>
                  <a:cs typeface="Inter"/>
                  <a:sym typeface="Inter"/>
                </a:rPr>
                <a:t>Función en 1-clic que clona la estructura completa de metas y categorías del mes pasado.</a:t>
              </a:r>
              <a:endParaRPr b="0" sz="1100">
                <a:solidFill>
                  <a:srgbClr val="CBD5E1"/>
                </a:solidFill>
                <a:latin typeface="Inter"/>
                <a:ea typeface="Inter"/>
                <a:cs typeface="Inter"/>
                <a:sym typeface="Inter"/>
              </a:endParaRPr>
            </a:p>
            <a:p>
              <a:pPr indent="-317500" lvl="0" marL="457200" rtl="0" algn="l">
                <a:spcBef>
                  <a:spcPts val="900"/>
                </a:spcBef>
                <a:spcAft>
                  <a:spcPts val="0"/>
                </a:spcAft>
                <a:buSzPts val="1400"/>
                <a:buChar char="●"/>
              </a:pPr>
              <a:r>
                <a:rPr b="0" lang="es" sz="1100">
                  <a:solidFill>
                    <a:srgbClr val="CBD5E1"/>
                  </a:solidFill>
                  <a:latin typeface="Inter"/>
                  <a:ea typeface="Inter"/>
                  <a:cs typeface="Inter"/>
                  <a:sym typeface="Inter"/>
                </a:rPr>
                <a:t>Elimina el trabajo repetitivo al inicio de cada ciclo mensual.</a:t>
              </a:r>
              <a:endParaRPr b="0" sz="1100">
                <a:solidFill>
                  <a:srgbClr val="CBD5E1"/>
                </a:solidFill>
                <a:latin typeface="Inter"/>
                <a:ea typeface="Inter"/>
                <a:cs typeface="Inter"/>
                <a:sym typeface="Inter"/>
              </a:endParaRPr>
            </a:p>
          </p:txBody>
        </p:sp>
        <p:grpSp>
          <p:nvGrpSpPr>
            <p:cNvPr id="291" name="Google Shape;291;p19"/>
            <p:cNvGrpSpPr/>
            <p:nvPr/>
          </p:nvGrpSpPr>
          <p:grpSpPr>
            <a:xfrm>
              <a:off x="6362700" y="3762375"/>
              <a:ext cx="2229000" cy="476400"/>
              <a:chOff x="0" y="0"/>
              <a:chExt cx="2229000" cy="476400"/>
            </a:xfrm>
          </p:grpSpPr>
          <p:sp>
            <p:nvSpPr>
              <p:cNvPr id="292" name="Google Shape;292;p19"/>
              <p:cNvSpPr/>
              <p:nvPr/>
            </p:nvSpPr>
            <p:spPr>
              <a:xfrm>
                <a:off x="0" y="0"/>
                <a:ext cx="2229000" cy="476400"/>
              </a:xfrm>
              <a:prstGeom prst="roundRect">
                <a:avLst>
                  <a:gd fmla="val 20000" name="adj"/>
                </a:avLst>
              </a:prstGeom>
              <a:solidFill>
                <a:srgbClr val="3B82F6">
                  <a:alpha val="15000"/>
                </a:srgbClr>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9"/>
              <p:cNvSpPr/>
              <p:nvPr/>
            </p:nvSpPr>
            <p:spPr>
              <a:xfrm>
                <a:off x="209550" y="171450"/>
                <a:ext cx="95400" cy="95400"/>
              </a:xfrm>
              <a:custGeom>
                <a:rect b="b" l="l" r="r" t="t"/>
                <a:pathLst>
                  <a:path extrusionOk="0" h="120000" w="120000">
                    <a:moveTo>
                      <a:pt x="0" y="0"/>
                    </a:moveTo>
                    <a:lnTo>
                      <a:pt x="120000" y="0"/>
                    </a:lnTo>
                    <a:lnTo>
                      <a:pt x="120000" y="120000"/>
                    </a:lnTo>
                    <a:lnTo>
                      <a:pt x="0" y="120000"/>
                    </a:lnTo>
                    <a:close/>
                  </a:path>
                </a:pathLst>
              </a:custGeom>
              <a:solidFill>
                <a:srgbClr val="000000">
                  <a:alpha val="0"/>
                </a:srgbClr>
              </a:solidFill>
              <a:ln cap="rnd" cmpd="sng" w="171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9"/>
              <p:cNvSpPr/>
              <p:nvPr/>
            </p:nvSpPr>
            <p:spPr>
              <a:xfrm>
                <a:off x="247650" y="209550"/>
                <a:ext cx="95400" cy="95400"/>
              </a:xfrm>
              <a:custGeom>
                <a:rect b="b" l="l" r="r" t="t"/>
                <a:pathLst>
                  <a:path extrusionOk="0" h="120000" w="120000">
                    <a:moveTo>
                      <a:pt x="0" y="0"/>
                    </a:moveTo>
                    <a:lnTo>
                      <a:pt x="120000" y="0"/>
                    </a:lnTo>
                    <a:lnTo>
                      <a:pt x="120000" y="120000"/>
                    </a:lnTo>
                    <a:lnTo>
                      <a:pt x="0" y="120000"/>
                    </a:lnTo>
                    <a:close/>
                  </a:path>
                </a:pathLst>
              </a:custGeom>
              <a:solidFill>
                <a:srgbClr val="000000">
                  <a:alpha val="0"/>
                </a:srgbClr>
              </a:solidFill>
              <a:ln cap="rnd" cmpd="sng" w="171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9"/>
              <p:cNvSpPr txBox="1"/>
              <p:nvPr/>
            </p:nvSpPr>
            <p:spPr>
              <a:xfrm>
                <a:off x="428625" y="133350"/>
                <a:ext cx="1666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765">
                    <a:solidFill>
                      <a:srgbClr val="3B82F6"/>
                    </a:solidFill>
                    <a:latin typeface="Inter SemiBold"/>
                    <a:ea typeface="Inter SemiBold"/>
                    <a:cs typeface="Inter SemiBold"/>
                    <a:sym typeface="Inter SemiBold"/>
                  </a:rPr>
                  <a:t>COPIAR MES ANTERIOR (1-CLIC)</a:t>
                </a:r>
                <a:endParaRPr b="0" sz="765">
                  <a:solidFill>
                    <a:srgbClr val="3B82F6"/>
                  </a:solidFill>
                  <a:latin typeface="Inter SemiBold"/>
                  <a:ea typeface="Inter SemiBold"/>
                  <a:cs typeface="Inter SemiBold"/>
                  <a:sym typeface="Inter SemiBold"/>
                </a:endParaRPr>
              </a:p>
            </p:txBody>
          </p:sp>
        </p:grpSp>
      </p:grpSp>
      <p:grpSp>
        <p:nvGrpSpPr>
          <p:cNvPr id="296" name="Google Shape;296;p19"/>
          <p:cNvGrpSpPr/>
          <p:nvPr/>
        </p:nvGrpSpPr>
        <p:grpSpPr>
          <a:xfrm>
            <a:off x="381000" y="4762500"/>
            <a:ext cx="8382000" cy="285750"/>
            <a:chOff x="381000" y="4762500"/>
            <a:chExt cx="8382000" cy="285750"/>
          </a:xfrm>
        </p:grpSpPr>
        <p:cxnSp>
          <p:nvCxnSpPr>
            <p:cNvPr id="297" name="Google Shape;297;p19"/>
            <p:cNvCxnSpPr/>
            <p:nvPr/>
          </p:nvCxnSpPr>
          <p:spPr>
            <a:xfrm>
              <a:off x="381000" y="476250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298" name="Google Shape;298;p19"/>
            <p:cNvSpPr txBox="1"/>
            <p:nvPr/>
          </p:nvSpPr>
          <p:spPr>
            <a:xfrm>
              <a:off x="381000" y="48577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CONFIDENCIAL - USO INTERNO</a:t>
              </a:r>
              <a:endParaRPr b="0" sz="900">
                <a:solidFill>
                  <a:srgbClr val="94A3B8"/>
                </a:solidFill>
                <a:latin typeface="Inter SemiBold"/>
                <a:ea typeface="Inter SemiBold"/>
                <a:cs typeface="Inter SemiBold"/>
                <a:sym typeface="Inter SemiBold"/>
              </a:endParaRPr>
            </a:p>
          </p:txBody>
        </p:sp>
        <p:sp>
          <p:nvSpPr>
            <p:cNvPr id="299" name="Google Shape;299;p19"/>
            <p:cNvSpPr txBox="1"/>
            <p:nvPr/>
          </p:nvSpPr>
          <p:spPr>
            <a:xfrm>
              <a:off x="7810500" y="4857750"/>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900">
                  <a:solidFill>
                    <a:srgbClr val="94A3B8"/>
                  </a:solidFill>
                  <a:latin typeface="Inter SemiBold"/>
                  <a:ea typeface="Inter SemiBold"/>
                  <a:cs typeface="Inter SemiBold"/>
                  <a:sym typeface="Inter SemiBold"/>
                </a:rPr>
                <a:t>2023-10-25</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0"/>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0"/>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0"/>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0"/>
          <p:cNvSpPr/>
          <p:nvPr/>
        </p:nvSpPr>
        <p:spPr>
          <a:xfrm>
            <a:off x="381000" y="381000"/>
            <a:ext cx="1905000" cy="4191000"/>
          </a:xfrm>
          <a:prstGeom prst="roundRect">
            <a:avLst>
              <a:gd fmla="val 6000" name="adj"/>
            </a:avLst>
          </a:prstGeom>
          <a:solidFill>
            <a:srgbClr val="1E293B">
              <a:alpha val="9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08" name="Google Shape;308;p20"/>
          <p:cNvGrpSpPr/>
          <p:nvPr/>
        </p:nvGrpSpPr>
        <p:grpSpPr>
          <a:xfrm>
            <a:off x="576263" y="565785"/>
            <a:ext cx="916781" cy="209550"/>
            <a:chOff x="95250" y="76200"/>
            <a:chExt cx="1666875" cy="381000"/>
          </a:xfrm>
        </p:grpSpPr>
        <p:sp>
          <p:nvSpPr>
            <p:cNvPr id="309" name="Google Shape;309;p20"/>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0"/>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0"/>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50">
                  <a:solidFill>
                    <a:srgbClr val="F8FAFC"/>
                  </a:solidFill>
                  <a:latin typeface="Montserrat"/>
                  <a:ea typeface="Montserrat"/>
                  <a:cs typeface="Montserrat"/>
                  <a:sym typeface="Montserrat"/>
                </a:rPr>
                <a:t>FinApp</a:t>
              </a:r>
              <a:endParaRPr b="1" sz="1250">
                <a:solidFill>
                  <a:srgbClr val="F8FAFC"/>
                </a:solidFill>
                <a:latin typeface="Montserrat"/>
                <a:ea typeface="Montserrat"/>
                <a:cs typeface="Montserrat"/>
                <a:sym typeface="Montserrat"/>
              </a:endParaRPr>
            </a:p>
          </p:txBody>
        </p:sp>
      </p:grpSp>
      <p:grpSp>
        <p:nvGrpSpPr>
          <p:cNvPr id="312" name="Google Shape;312;p20"/>
          <p:cNvGrpSpPr/>
          <p:nvPr/>
        </p:nvGrpSpPr>
        <p:grpSpPr>
          <a:xfrm>
            <a:off x="476250" y="1143000"/>
            <a:ext cx="1619250" cy="1419375"/>
            <a:chOff x="-47625" y="47625"/>
            <a:chExt cx="1619250" cy="1419375"/>
          </a:xfrm>
        </p:grpSpPr>
        <p:sp>
          <p:nvSpPr>
            <p:cNvPr id="313" name="Google Shape;313;p20"/>
            <p:cNvSpPr/>
            <p:nvPr/>
          </p:nvSpPr>
          <p:spPr>
            <a:xfrm>
              <a:off x="57150" y="104775"/>
              <a:ext cx="76200" cy="76200"/>
            </a:xfrm>
            <a:prstGeom prst="ellipse">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0"/>
            <p:cNvSpPr txBox="1"/>
            <p:nvPr/>
          </p:nvSpPr>
          <p:spPr>
            <a:xfrm>
              <a:off x="238125" y="47625"/>
              <a:ext cx="1333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100">
                  <a:solidFill>
                    <a:srgbClr val="94A3B8"/>
                  </a:solidFill>
                  <a:latin typeface="Inter"/>
                  <a:ea typeface="Inter"/>
                  <a:cs typeface="Inter"/>
                  <a:sym typeface="Inter"/>
                </a:rPr>
                <a:t>Dashboard</a:t>
              </a:r>
              <a:endParaRPr b="0" sz="1100">
                <a:solidFill>
                  <a:srgbClr val="94A3B8"/>
                </a:solidFill>
                <a:latin typeface="Inter"/>
                <a:ea typeface="Inter"/>
                <a:cs typeface="Inter"/>
                <a:sym typeface="Inter"/>
              </a:endParaRPr>
            </a:p>
          </p:txBody>
        </p:sp>
        <p:sp>
          <p:nvSpPr>
            <p:cNvPr id="315" name="Google Shape;315;p20"/>
            <p:cNvSpPr/>
            <p:nvPr/>
          </p:nvSpPr>
          <p:spPr>
            <a:xfrm>
              <a:off x="57150" y="485775"/>
              <a:ext cx="76200" cy="76200"/>
            </a:xfrm>
            <a:prstGeom prst="ellipse">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0"/>
            <p:cNvSpPr txBox="1"/>
            <p:nvPr/>
          </p:nvSpPr>
          <p:spPr>
            <a:xfrm>
              <a:off x="238125" y="428625"/>
              <a:ext cx="1333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100">
                  <a:solidFill>
                    <a:srgbClr val="94A3B8"/>
                  </a:solidFill>
                  <a:latin typeface="Inter"/>
                  <a:ea typeface="Inter"/>
                  <a:cs typeface="Inter"/>
                  <a:sym typeface="Inter"/>
                </a:rPr>
                <a:t>Bóvedas</a:t>
              </a:r>
              <a:endParaRPr b="0" sz="1100">
                <a:solidFill>
                  <a:srgbClr val="94A3B8"/>
                </a:solidFill>
                <a:latin typeface="Inter"/>
                <a:ea typeface="Inter"/>
                <a:cs typeface="Inter"/>
                <a:sym typeface="Inter"/>
              </a:endParaRPr>
            </a:p>
          </p:txBody>
        </p:sp>
        <p:sp>
          <p:nvSpPr>
            <p:cNvPr id="317" name="Google Shape;317;p20"/>
            <p:cNvSpPr/>
            <p:nvPr/>
          </p:nvSpPr>
          <p:spPr>
            <a:xfrm>
              <a:off x="57150" y="866775"/>
              <a:ext cx="76200" cy="76200"/>
            </a:xfrm>
            <a:prstGeom prst="ellipse">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0"/>
            <p:cNvSpPr txBox="1"/>
            <p:nvPr/>
          </p:nvSpPr>
          <p:spPr>
            <a:xfrm>
              <a:off x="238125" y="809625"/>
              <a:ext cx="1333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100">
                  <a:solidFill>
                    <a:srgbClr val="94A3B8"/>
                  </a:solidFill>
                  <a:latin typeface="Inter"/>
                  <a:ea typeface="Inter"/>
                  <a:cs typeface="Inter"/>
                  <a:sym typeface="Inter"/>
                </a:rPr>
                <a:t>Presupuestos</a:t>
              </a:r>
              <a:endParaRPr b="0" sz="1100">
                <a:solidFill>
                  <a:srgbClr val="94A3B8"/>
                </a:solidFill>
                <a:latin typeface="Inter"/>
                <a:ea typeface="Inter"/>
                <a:cs typeface="Inter"/>
                <a:sym typeface="Inter"/>
              </a:endParaRPr>
            </a:p>
          </p:txBody>
        </p:sp>
        <p:sp>
          <p:nvSpPr>
            <p:cNvPr id="319" name="Google Shape;319;p20"/>
            <p:cNvSpPr/>
            <p:nvPr/>
          </p:nvSpPr>
          <p:spPr>
            <a:xfrm>
              <a:off x="-47625" y="1143000"/>
              <a:ext cx="1619100" cy="324000"/>
            </a:xfrm>
            <a:prstGeom prst="roundRect">
              <a:avLst>
                <a:gd fmla="val 23529" name="adj"/>
              </a:avLst>
            </a:prstGeom>
            <a:solidFill>
              <a:srgbClr val="3B82F6">
                <a:alpha val="20000"/>
              </a:srgbClr>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0"/>
            <p:cNvSpPr/>
            <p:nvPr/>
          </p:nvSpPr>
          <p:spPr>
            <a:xfrm>
              <a:off x="57150" y="1266825"/>
              <a:ext cx="76200" cy="762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0"/>
            <p:cNvSpPr txBox="1"/>
            <p:nvPr/>
          </p:nvSpPr>
          <p:spPr>
            <a:xfrm>
              <a:off x="238125" y="1209675"/>
              <a:ext cx="1333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100">
                  <a:solidFill>
                    <a:srgbClr val="3B82F6"/>
                  </a:solidFill>
                  <a:latin typeface="Inter SemiBold"/>
                  <a:ea typeface="Inter SemiBold"/>
                  <a:cs typeface="Inter SemiBold"/>
                  <a:sym typeface="Inter SemiBold"/>
                </a:rPr>
                <a:t>Análisis Pro</a:t>
              </a:r>
              <a:endParaRPr b="0" sz="1100">
                <a:solidFill>
                  <a:srgbClr val="3B82F6"/>
                </a:solidFill>
                <a:latin typeface="Inter SemiBold"/>
                <a:ea typeface="Inter SemiBold"/>
                <a:cs typeface="Inter SemiBold"/>
                <a:sym typeface="Inter SemiBold"/>
              </a:endParaRPr>
            </a:p>
          </p:txBody>
        </p:sp>
      </p:grpSp>
      <p:sp>
        <p:nvSpPr>
          <p:cNvPr id="322" name="Google Shape;322;p20"/>
          <p:cNvSpPr txBox="1"/>
          <p:nvPr/>
        </p:nvSpPr>
        <p:spPr>
          <a:xfrm>
            <a:off x="2571750" y="361950"/>
            <a:ext cx="61914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200">
                <a:solidFill>
                  <a:srgbClr val="F8FAFC"/>
                </a:solidFill>
                <a:latin typeface="Montserrat"/>
                <a:ea typeface="Montserrat"/>
                <a:cs typeface="Montserrat"/>
                <a:sym typeface="Montserrat"/>
              </a:rPr>
              <a:t>Análisis Pro y Reportes Ejecutivos</a:t>
            </a:r>
            <a:endParaRPr b="1" sz="2200">
              <a:solidFill>
                <a:srgbClr val="F8FAFC"/>
              </a:solidFill>
              <a:latin typeface="Montserrat"/>
              <a:ea typeface="Montserrat"/>
              <a:cs typeface="Montserrat"/>
              <a:sym typeface="Montserrat"/>
            </a:endParaRPr>
          </a:p>
          <a:p>
            <a:pPr indent="0" lvl="0" marL="0" rtl="0" algn="l">
              <a:spcBef>
                <a:spcPts val="450"/>
              </a:spcBef>
              <a:spcAft>
                <a:spcPts val="750"/>
              </a:spcAft>
              <a:buNone/>
            </a:pPr>
            <a:r>
              <a:rPr b="0" lang="es" sz="1300">
                <a:solidFill>
                  <a:srgbClr val="3B82F6"/>
                </a:solidFill>
                <a:latin typeface="Inter Medium"/>
                <a:ea typeface="Inter Medium"/>
                <a:cs typeface="Inter Medium"/>
                <a:sym typeface="Inter Medium"/>
              </a:rPr>
              <a:t>Inteligencia de Negocios para tus Finanzas</a:t>
            </a:r>
            <a:endParaRPr b="0" sz="1300">
              <a:solidFill>
                <a:srgbClr val="3B82F6"/>
              </a:solidFill>
              <a:latin typeface="Inter Medium"/>
              <a:ea typeface="Inter Medium"/>
              <a:cs typeface="Inter Medium"/>
              <a:sym typeface="Inter Medium"/>
            </a:endParaRPr>
          </a:p>
        </p:txBody>
      </p:sp>
      <p:sp>
        <p:nvSpPr>
          <p:cNvPr id="323" name="Google Shape;323;p20"/>
          <p:cNvSpPr/>
          <p:nvPr/>
        </p:nvSpPr>
        <p:spPr>
          <a:xfrm>
            <a:off x="2571750" y="1066800"/>
            <a:ext cx="3714900" cy="2076600"/>
          </a:xfrm>
          <a:prstGeom prst="roundRect">
            <a:avLst>
              <a:gd fmla="val 5504"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0"/>
          <p:cNvSpPr txBox="1"/>
          <p:nvPr/>
        </p:nvSpPr>
        <p:spPr>
          <a:xfrm>
            <a:off x="2724150" y="1181100"/>
            <a:ext cx="3410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3B82F6"/>
                </a:solidFill>
                <a:latin typeface="Inter SemiBold"/>
                <a:ea typeface="Inter SemiBold"/>
                <a:cs typeface="Inter SemiBold"/>
                <a:sym typeface="Inter SemiBold"/>
              </a:rPr>
              <a:t>MÉTRICAS DE ESTABILIDAD Y GRÁFICOS AVANZADOS</a:t>
            </a:r>
            <a:endParaRPr b="0" sz="900">
              <a:solidFill>
                <a:srgbClr val="3B82F6"/>
              </a:solidFill>
              <a:latin typeface="Inter SemiBold"/>
              <a:ea typeface="Inter SemiBold"/>
              <a:cs typeface="Inter SemiBold"/>
              <a:sym typeface="Inter SemiBold"/>
            </a:endParaRPr>
          </a:p>
          <a:p>
            <a:pPr indent="0" lvl="0" marL="0" rtl="0" algn="l">
              <a:spcBef>
                <a:spcPts val="450"/>
              </a:spcBef>
              <a:spcAft>
                <a:spcPts val="600"/>
              </a:spcAft>
              <a:buNone/>
            </a:pPr>
            <a:r>
              <a:rPr b="0" lang="es" sz="1050">
                <a:solidFill>
                  <a:srgbClr val="F8FAFC"/>
                </a:solidFill>
                <a:latin typeface="Inter"/>
                <a:ea typeface="Inter"/>
                <a:cs typeface="Inter"/>
                <a:sym typeface="Inter"/>
              </a:rPr>
              <a:t>Indicadores clave de rendimiento (KPIs) y gráficos interactivos de distribución de capital para identificar patrones de consumo y oportunidades de ahorro.</a:t>
            </a:r>
            <a:endParaRPr b="0" sz="1050">
              <a:solidFill>
                <a:srgbClr val="F8FAFC"/>
              </a:solidFill>
              <a:latin typeface="Inter"/>
              <a:ea typeface="Inter"/>
              <a:cs typeface="Inter"/>
              <a:sym typeface="Inter"/>
            </a:endParaRPr>
          </a:p>
        </p:txBody>
      </p:sp>
      <p:grpSp>
        <p:nvGrpSpPr>
          <p:cNvPr id="325" name="Google Shape;325;p20"/>
          <p:cNvGrpSpPr/>
          <p:nvPr/>
        </p:nvGrpSpPr>
        <p:grpSpPr>
          <a:xfrm>
            <a:off x="2724150" y="2019300"/>
            <a:ext cx="3410100" cy="971700"/>
            <a:chOff x="0" y="0"/>
            <a:chExt cx="3410100" cy="971700"/>
          </a:xfrm>
        </p:grpSpPr>
        <p:sp>
          <p:nvSpPr>
            <p:cNvPr id="326" name="Google Shape;326;p20"/>
            <p:cNvSpPr/>
            <p:nvPr/>
          </p:nvSpPr>
          <p:spPr>
            <a:xfrm>
              <a:off x="0" y="0"/>
              <a:ext cx="3410100" cy="971700"/>
            </a:xfrm>
            <a:prstGeom prst="roundRect">
              <a:avLst>
                <a:gd fmla="val 7843" name="adj"/>
              </a:avLst>
            </a:prstGeom>
            <a:solidFill>
              <a:srgbClr val="0F172A">
                <a:alpha val="6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27" name="Google Shape;327;p20"/>
            <p:cNvCxnSpPr/>
            <p:nvPr/>
          </p:nvCxnSpPr>
          <p:spPr>
            <a:xfrm>
              <a:off x="190500" y="762000"/>
              <a:ext cx="3029100" cy="0"/>
            </a:xfrm>
            <a:prstGeom prst="straightConnector1">
              <a:avLst/>
            </a:prstGeom>
            <a:solidFill>
              <a:srgbClr val="FFFFFF"/>
            </a:solidFill>
            <a:ln cap="flat" cmpd="sng" w="9525">
              <a:solidFill>
                <a:srgbClr val="475569"/>
              </a:solidFill>
              <a:prstDash val="solid"/>
              <a:round/>
              <a:headEnd len="sm" w="sm" type="none"/>
              <a:tailEnd len="sm" w="sm" type="none"/>
            </a:ln>
          </p:spPr>
        </p:cxnSp>
        <p:pic>
          <p:nvPicPr>
            <p:cNvPr id="328" name="Google Shape;328;p20"/>
            <p:cNvPicPr preferRelativeResize="0"/>
            <p:nvPr/>
          </p:nvPicPr>
          <p:blipFill rotWithShape="1">
            <a:blip r:embed="rId3">
              <a:alphaModFix/>
            </a:blip>
            <a:srcRect b="0" l="0" r="0" t="0"/>
            <a:stretch/>
          </p:blipFill>
          <p:spPr>
            <a:xfrm>
              <a:off x="190500" y="471488"/>
              <a:ext cx="3000300" cy="9600"/>
            </a:xfrm>
            <a:prstGeom prst="rect">
              <a:avLst/>
            </a:prstGeom>
            <a:noFill/>
            <a:ln>
              <a:noFill/>
            </a:ln>
          </p:spPr>
        </p:pic>
        <p:pic>
          <p:nvPicPr>
            <p:cNvPr id="329" name="Google Shape;329;p20"/>
            <p:cNvPicPr preferRelativeResize="0"/>
            <p:nvPr/>
          </p:nvPicPr>
          <p:blipFill rotWithShape="1">
            <a:blip r:embed="rId3">
              <a:alphaModFix/>
            </a:blip>
            <a:srcRect b="0" l="0" r="0" t="0"/>
            <a:stretch/>
          </p:blipFill>
          <p:spPr>
            <a:xfrm>
              <a:off x="190500" y="185738"/>
              <a:ext cx="3000300" cy="9600"/>
            </a:xfrm>
            <a:prstGeom prst="rect">
              <a:avLst/>
            </a:prstGeom>
            <a:noFill/>
            <a:ln>
              <a:noFill/>
            </a:ln>
          </p:spPr>
        </p:pic>
        <p:sp>
          <p:nvSpPr>
            <p:cNvPr id="330" name="Google Shape;330;p20"/>
            <p:cNvSpPr/>
            <p:nvPr/>
          </p:nvSpPr>
          <p:spPr>
            <a:xfrm>
              <a:off x="428625" y="428625"/>
              <a:ext cx="266700" cy="333300"/>
            </a:xfrm>
            <a:prstGeom prst="roundRect">
              <a:avLst>
                <a:gd fmla="val 10714"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0"/>
            <p:cNvSpPr/>
            <p:nvPr/>
          </p:nvSpPr>
          <p:spPr>
            <a:xfrm>
              <a:off x="1000125" y="238125"/>
              <a:ext cx="266700" cy="523800"/>
            </a:xfrm>
            <a:prstGeom prst="roundRect">
              <a:avLst>
                <a:gd fmla="val 10714"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0"/>
            <p:cNvSpPr/>
            <p:nvPr/>
          </p:nvSpPr>
          <p:spPr>
            <a:xfrm>
              <a:off x="1571625" y="523875"/>
              <a:ext cx="266700" cy="238200"/>
            </a:xfrm>
            <a:prstGeom prst="roundRect">
              <a:avLst>
                <a:gd fmla="val 12000" name="adj"/>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0"/>
            <p:cNvSpPr/>
            <p:nvPr/>
          </p:nvSpPr>
          <p:spPr>
            <a:xfrm>
              <a:off x="2143125" y="142875"/>
              <a:ext cx="266700" cy="619200"/>
            </a:xfrm>
            <a:prstGeom prst="roundRect">
              <a:avLst>
                <a:gd fmla="val 10714"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0"/>
            <p:cNvSpPr/>
            <p:nvPr/>
          </p:nvSpPr>
          <p:spPr>
            <a:xfrm>
              <a:off x="2714625" y="333375"/>
              <a:ext cx="266700" cy="428700"/>
            </a:xfrm>
            <a:prstGeom prst="roundRect">
              <a:avLst>
                <a:gd fmla="val 10714"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5" name="Google Shape;335;p20"/>
          <p:cNvSpPr/>
          <p:nvPr/>
        </p:nvSpPr>
        <p:spPr>
          <a:xfrm>
            <a:off x="6429375" y="1066800"/>
            <a:ext cx="2333700" cy="2076600"/>
          </a:xfrm>
          <a:prstGeom prst="roundRect">
            <a:avLst>
              <a:gd fmla="val 5504"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0"/>
          <p:cNvSpPr txBox="1"/>
          <p:nvPr/>
        </p:nvSpPr>
        <p:spPr>
          <a:xfrm>
            <a:off x="6572250" y="1181100"/>
            <a:ext cx="20478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833">
                <a:solidFill>
                  <a:srgbClr val="EF4444"/>
                </a:solidFill>
                <a:latin typeface="Inter SemiBold"/>
                <a:ea typeface="Inter SemiBold"/>
                <a:cs typeface="Inter SemiBold"/>
                <a:sym typeface="Inter SemiBold"/>
              </a:rPr>
              <a:t>CERTIFICACIÓN FORMAL EN PDF</a:t>
            </a:r>
            <a:endParaRPr b="0" sz="833">
              <a:solidFill>
                <a:srgbClr val="EF4444"/>
              </a:solidFill>
              <a:latin typeface="Inter SemiBold"/>
              <a:ea typeface="Inter SemiBold"/>
              <a:cs typeface="Inter SemiBold"/>
              <a:sym typeface="Inter SemiBold"/>
            </a:endParaRPr>
          </a:p>
          <a:p>
            <a:pPr indent="0" lvl="0" marL="0" rtl="0" algn="l">
              <a:spcBef>
                <a:spcPts val="450"/>
              </a:spcBef>
              <a:spcAft>
                <a:spcPts val="600"/>
              </a:spcAft>
              <a:buNone/>
            </a:pPr>
            <a:r>
              <a:rPr b="0" lang="es" sz="925">
                <a:solidFill>
                  <a:srgbClr val="F8FAFC"/>
                </a:solidFill>
                <a:latin typeface="Inter"/>
                <a:ea typeface="Inter"/>
                <a:cs typeface="Inter"/>
                <a:sym typeface="Inter"/>
              </a:rPr>
              <a:t>Generación de reportes ejecutivos con ID único de validación para trazabilidad y autenticidad. Ideal para rendición de cuentas y trámites.</a:t>
            </a:r>
            <a:endParaRPr b="0" sz="925">
              <a:solidFill>
                <a:srgbClr val="F8FAFC"/>
              </a:solidFill>
              <a:latin typeface="Inter"/>
              <a:ea typeface="Inter"/>
              <a:cs typeface="Inter"/>
              <a:sym typeface="Inter"/>
            </a:endParaRPr>
          </a:p>
        </p:txBody>
      </p:sp>
      <p:grpSp>
        <p:nvGrpSpPr>
          <p:cNvPr id="337" name="Google Shape;337;p20"/>
          <p:cNvGrpSpPr/>
          <p:nvPr/>
        </p:nvGrpSpPr>
        <p:grpSpPr>
          <a:xfrm>
            <a:off x="7143750" y="2152650"/>
            <a:ext cx="857400" cy="857400"/>
            <a:chOff x="0" y="0"/>
            <a:chExt cx="857400" cy="857400"/>
          </a:xfrm>
        </p:grpSpPr>
        <p:sp>
          <p:nvSpPr>
            <p:cNvPr id="338" name="Google Shape;338;p20"/>
            <p:cNvSpPr/>
            <p:nvPr/>
          </p:nvSpPr>
          <p:spPr>
            <a:xfrm>
              <a:off x="0" y="0"/>
              <a:ext cx="857400" cy="857400"/>
            </a:xfrm>
            <a:prstGeom prst="roundRect">
              <a:avLst>
                <a:gd fmla="val 11111" name="adj"/>
              </a:avLst>
            </a:prstGeom>
            <a:solidFill>
              <a:srgbClr val="0F172A"/>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0"/>
            <p:cNvSpPr/>
            <p:nvPr/>
          </p:nvSpPr>
          <p:spPr>
            <a:xfrm>
              <a:off x="238125" y="209550"/>
              <a:ext cx="381000" cy="266700"/>
            </a:xfrm>
            <a:custGeom>
              <a:rect b="b" l="l" r="r" t="t"/>
              <a:pathLst>
                <a:path extrusionOk="0" fill="none" h="120000" w="120000">
                  <a:moveTo>
                    <a:pt x="0" y="0"/>
                  </a:moveTo>
                  <a:lnTo>
                    <a:pt x="120000" y="0"/>
                  </a:lnTo>
                  <a:moveTo>
                    <a:pt x="0" y="60000"/>
                  </a:moveTo>
                  <a:lnTo>
                    <a:pt x="120000" y="60000"/>
                  </a:lnTo>
                  <a:moveTo>
                    <a:pt x="0" y="120000"/>
                  </a:moveTo>
                  <a:lnTo>
                    <a:pt x="60000" y="120000"/>
                  </a:lnTo>
                </a:path>
              </a:pathLst>
            </a:custGeom>
            <a:solidFill>
              <a:srgbClr val="FFFFFF"/>
            </a:solidFill>
            <a:ln cap="rnd" cmpd="sng" w="23825">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0"/>
            <p:cNvSpPr/>
            <p:nvPr/>
          </p:nvSpPr>
          <p:spPr>
            <a:xfrm>
              <a:off x="400050" y="457200"/>
              <a:ext cx="381000" cy="324000"/>
            </a:xfrm>
            <a:prstGeom prst="roundRect">
              <a:avLst>
                <a:gd fmla="val 17647"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0"/>
            <p:cNvSpPr txBox="1"/>
            <p:nvPr/>
          </p:nvSpPr>
          <p:spPr>
            <a:xfrm>
              <a:off x="400050" y="523875"/>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00">
                  <a:solidFill>
                    <a:srgbClr val="FFFFFF"/>
                  </a:solidFill>
                  <a:latin typeface="Inter SemiBold"/>
                  <a:ea typeface="Inter SemiBold"/>
                  <a:cs typeface="Inter SemiBold"/>
                  <a:sym typeface="Inter SemiBold"/>
                </a:rPr>
                <a:t>PDF</a:t>
              </a:r>
              <a:endParaRPr b="0" sz="800">
                <a:solidFill>
                  <a:srgbClr val="FFFFFF"/>
                </a:solidFill>
                <a:latin typeface="Inter SemiBold"/>
                <a:ea typeface="Inter SemiBold"/>
                <a:cs typeface="Inter SemiBold"/>
                <a:sym typeface="Inter SemiBold"/>
              </a:endParaRPr>
            </a:p>
          </p:txBody>
        </p:sp>
      </p:grpSp>
      <p:sp>
        <p:nvSpPr>
          <p:cNvPr id="342" name="Google Shape;342;p20"/>
          <p:cNvSpPr/>
          <p:nvPr/>
        </p:nvSpPr>
        <p:spPr>
          <a:xfrm>
            <a:off x="2571750" y="3257550"/>
            <a:ext cx="6191400" cy="1314600"/>
          </a:xfrm>
          <a:prstGeom prst="roundRect">
            <a:avLst>
              <a:gd fmla="val 8695"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0"/>
          <p:cNvSpPr txBox="1"/>
          <p:nvPr/>
        </p:nvSpPr>
        <p:spPr>
          <a:xfrm>
            <a:off x="2762250" y="3390900"/>
            <a:ext cx="3524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10B981"/>
                </a:solidFill>
                <a:latin typeface="Inter SemiBold"/>
                <a:ea typeface="Inter SemiBold"/>
                <a:cs typeface="Inter SemiBold"/>
                <a:sym typeface="Inter SemiBold"/>
              </a:rPr>
              <a:t>EXPORTACIÓN DE DATOS CRUDOS</a:t>
            </a:r>
            <a:endParaRPr b="0" sz="900">
              <a:solidFill>
                <a:srgbClr val="10B981"/>
              </a:solidFill>
              <a:latin typeface="Inter SemiBold"/>
              <a:ea typeface="Inter SemiBold"/>
              <a:cs typeface="Inter SemiBold"/>
              <a:sym typeface="Inter SemiBold"/>
            </a:endParaRPr>
          </a:p>
          <a:p>
            <a:pPr indent="0" lvl="0" marL="0" rtl="0" algn="l">
              <a:spcBef>
                <a:spcPts val="450"/>
              </a:spcBef>
              <a:spcAft>
                <a:spcPts val="0"/>
              </a:spcAft>
              <a:buNone/>
            </a:pPr>
            <a:r>
              <a:rPr b="0" lang="es" sz="1100">
                <a:solidFill>
                  <a:srgbClr val="F8FAFC"/>
                </a:solidFill>
                <a:latin typeface="Inter"/>
                <a:ea typeface="Inter"/>
                <a:cs typeface="Inter"/>
                <a:sym typeface="Inter"/>
              </a:rPr>
              <a:t>Descarga de datos completos en formato CSV compatible con Excel y Google Sheets.</a:t>
            </a:r>
            <a:endParaRPr b="0" sz="1100">
              <a:solidFill>
                <a:srgbClr val="F8FAFC"/>
              </a:solidFill>
              <a:latin typeface="Inter"/>
              <a:ea typeface="Inter"/>
              <a:cs typeface="Inter"/>
              <a:sym typeface="Inter"/>
            </a:endParaRPr>
          </a:p>
          <a:p>
            <a:pPr indent="0" lvl="0" marL="0" rtl="0" algn="l">
              <a:spcBef>
                <a:spcPts val="600"/>
              </a:spcBef>
              <a:spcAft>
                <a:spcPts val="600"/>
              </a:spcAft>
              <a:buNone/>
            </a:pPr>
            <a:r>
              <a:rPr b="0" lang="es" sz="950">
                <a:solidFill>
                  <a:srgbClr val="94A3B8"/>
                </a:solidFill>
                <a:latin typeface="Inter"/>
                <a:ea typeface="Inter"/>
                <a:cs typeface="Inter"/>
                <a:sym typeface="Inter"/>
              </a:rPr>
              <a:t>Acceso directo a tablas estructuradas para auditoría financiera profunda y modelado personalizado.</a:t>
            </a:r>
            <a:endParaRPr b="0" sz="950">
              <a:solidFill>
                <a:srgbClr val="94A3B8"/>
              </a:solidFill>
              <a:latin typeface="Inter"/>
              <a:ea typeface="Inter"/>
              <a:cs typeface="Inter"/>
              <a:sym typeface="Inter"/>
            </a:endParaRPr>
          </a:p>
        </p:txBody>
      </p:sp>
      <p:grpSp>
        <p:nvGrpSpPr>
          <p:cNvPr id="344" name="Google Shape;344;p20"/>
          <p:cNvGrpSpPr/>
          <p:nvPr/>
        </p:nvGrpSpPr>
        <p:grpSpPr>
          <a:xfrm>
            <a:off x="6477000" y="3448050"/>
            <a:ext cx="2095575" cy="704850"/>
            <a:chOff x="0" y="0"/>
            <a:chExt cx="2095575" cy="704850"/>
          </a:xfrm>
        </p:grpSpPr>
        <p:grpSp>
          <p:nvGrpSpPr>
            <p:cNvPr id="345" name="Google Shape;345;p20"/>
            <p:cNvGrpSpPr/>
            <p:nvPr/>
          </p:nvGrpSpPr>
          <p:grpSpPr>
            <a:xfrm>
              <a:off x="0" y="0"/>
              <a:ext cx="1000200" cy="304800"/>
              <a:chOff x="0" y="0"/>
              <a:chExt cx="1000200" cy="304800"/>
            </a:xfrm>
          </p:grpSpPr>
          <p:sp>
            <p:nvSpPr>
              <p:cNvPr id="346" name="Google Shape;346;p20"/>
              <p:cNvSpPr/>
              <p:nvPr/>
            </p:nvSpPr>
            <p:spPr>
              <a:xfrm>
                <a:off x="0" y="0"/>
                <a:ext cx="1000200" cy="304800"/>
              </a:xfrm>
              <a:prstGeom prst="roundRect">
                <a:avLst>
                  <a:gd fmla="val 25000" name="adj"/>
                </a:avLst>
              </a:prstGeom>
              <a:solidFill>
                <a:srgbClr val="10B981">
                  <a:alpha val="15000"/>
                </a:srgbClr>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0"/>
              <p:cNvSpPr txBox="1"/>
              <p:nvPr/>
            </p:nvSpPr>
            <p:spPr>
              <a:xfrm>
                <a:off x="0" y="57150"/>
                <a:ext cx="10002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900">
                    <a:solidFill>
                      <a:srgbClr val="10B981"/>
                    </a:solidFill>
                    <a:latin typeface="Inter SemiBold"/>
                    <a:ea typeface="Inter SemiBold"/>
                    <a:cs typeface="Inter SemiBold"/>
                    <a:sym typeface="Inter SemiBold"/>
                  </a:rPr>
                  <a:t>.CSV</a:t>
                </a:r>
                <a:endParaRPr b="0" sz="900">
                  <a:solidFill>
                    <a:srgbClr val="10B981"/>
                  </a:solidFill>
                  <a:latin typeface="Inter SemiBold"/>
                  <a:ea typeface="Inter SemiBold"/>
                  <a:cs typeface="Inter SemiBold"/>
                  <a:sym typeface="Inter SemiBold"/>
                </a:endParaRPr>
              </a:p>
            </p:txBody>
          </p:sp>
        </p:grpSp>
        <p:grpSp>
          <p:nvGrpSpPr>
            <p:cNvPr id="348" name="Google Shape;348;p20"/>
            <p:cNvGrpSpPr/>
            <p:nvPr/>
          </p:nvGrpSpPr>
          <p:grpSpPr>
            <a:xfrm>
              <a:off x="1095375" y="0"/>
              <a:ext cx="1000200" cy="304800"/>
              <a:chOff x="0" y="0"/>
              <a:chExt cx="1000200" cy="304800"/>
            </a:xfrm>
          </p:grpSpPr>
          <p:sp>
            <p:nvSpPr>
              <p:cNvPr id="349" name="Google Shape;349;p20"/>
              <p:cNvSpPr/>
              <p:nvPr/>
            </p:nvSpPr>
            <p:spPr>
              <a:xfrm>
                <a:off x="0" y="0"/>
                <a:ext cx="1000200" cy="304800"/>
              </a:xfrm>
              <a:prstGeom prst="roundRect">
                <a:avLst>
                  <a:gd fmla="val 25000" name="adj"/>
                </a:avLst>
              </a:prstGeom>
              <a:solidFill>
                <a:srgbClr val="3B82F6">
                  <a:alpha val="15000"/>
                </a:srgbClr>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0"/>
              <p:cNvSpPr txBox="1"/>
              <p:nvPr/>
            </p:nvSpPr>
            <p:spPr>
              <a:xfrm>
                <a:off x="0" y="57150"/>
                <a:ext cx="10002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900">
                    <a:solidFill>
                      <a:srgbClr val="3B82F6"/>
                    </a:solidFill>
                    <a:latin typeface="Inter SemiBold"/>
                    <a:ea typeface="Inter SemiBold"/>
                    <a:cs typeface="Inter SemiBold"/>
                    <a:sym typeface="Inter SemiBold"/>
                  </a:rPr>
                  <a:t>EXCEL</a:t>
                </a:r>
                <a:endParaRPr b="0" sz="900">
                  <a:solidFill>
                    <a:srgbClr val="3B82F6"/>
                  </a:solidFill>
                  <a:latin typeface="Inter SemiBold"/>
                  <a:ea typeface="Inter SemiBold"/>
                  <a:cs typeface="Inter SemiBold"/>
                  <a:sym typeface="Inter SemiBold"/>
                </a:endParaRPr>
              </a:p>
            </p:txBody>
          </p:sp>
        </p:grpSp>
        <p:grpSp>
          <p:nvGrpSpPr>
            <p:cNvPr id="351" name="Google Shape;351;p20"/>
            <p:cNvGrpSpPr/>
            <p:nvPr/>
          </p:nvGrpSpPr>
          <p:grpSpPr>
            <a:xfrm>
              <a:off x="0" y="400050"/>
              <a:ext cx="2095500" cy="304800"/>
              <a:chOff x="0" y="0"/>
              <a:chExt cx="2095500" cy="304800"/>
            </a:xfrm>
          </p:grpSpPr>
          <p:sp>
            <p:nvSpPr>
              <p:cNvPr id="352" name="Google Shape;352;p20"/>
              <p:cNvSpPr/>
              <p:nvPr/>
            </p:nvSpPr>
            <p:spPr>
              <a:xfrm>
                <a:off x="0" y="0"/>
                <a:ext cx="2095500" cy="304800"/>
              </a:xfrm>
              <a:prstGeom prst="roundRect">
                <a:avLst>
                  <a:gd fmla="val 25000" name="adj"/>
                </a:avLst>
              </a:prstGeom>
              <a:solidFill>
                <a:srgbClr val="0F172A"/>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0"/>
              <p:cNvSpPr txBox="1"/>
              <p:nvPr/>
            </p:nvSpPr>
            <p:spPr>
              <a:xfrm>
                <a:off x="0" y="57150"/>
                <a:ext cx="2095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900">
                    <a:solidFill>
                      <a:srgbClr val="94A3B8"/>
                    </a:solidFill>
                    <a:latin typeface="Inter SemiBold"/>
                    <a:ea typeface="Inter SemiBold"/>
                    <a:cs typeface="Inter SemiBold"/>
                    <a:sym typeface="Inter SemiBold"/>
                  </a:rPr>
                  <a:t>GOOGLE SHEETS</a:t>
                </a:r>
                <a:endParaRPr b="0" sz="900">
                  <a:solidFill>
                    <a:srgbClr val="94A3B8"/>
                  </a:solidFill>
                  <a:latin typeface="Inter SemiBold"/>
                  <a:ea typeface="Inter SemiBold"/>
                  <a:cs typeface="Inter SemiBold"/>
                  <a:sym typeface="Inter SemiBold"/>
                </a:endParaRPr>
              </a:p>
            </p:txBody>
          </p:sp>
        </p:grpSp>
      </p:grpSp>
      <p:grpSp>
        <p:nvGrpSpPr>
          <p:cNvPr id="354" name="Google Shape;354;p20"/>
          <p:cNvGrpSpPr/>
          <p:nvPr/>
        </p:nvGrpSpPr>
        <p:grpSpPr>
          <a:xfrm>
            <a:off x="381000" y="4762500"/>
            <a:ext cx="8382000" cy="285750"/>
            <a:chOff x="381000" y="4762500"/>
            <a:chExt cx="8382000" cy="285750"/>
          </a:xfrm>
        </p:grpSpPr>
        <p:cxnSp>
          <p:nvCxnSpPr>
            <p:cNvPr id="355" name="Google Shape;355;p20"/>
            <p:cNvCxnSpPr/>
            <p:nvPr/>
          </p:nvCxnSpPr>
          <p:spPr>
            <a:xfrm>
              <a:off x="381000" y="476250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356" name="Google Shape;356;p20"/>
            <p:cNvSpPr txBox="1"/>
            <p:nvPr/>
          </p:nvSpPr>
          <p:spPr>
            <a:xfrm>
              <a:off x="381000" y="48577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900">
                  <a:solidFill>
                    <a:srgbClr val="94A3B8"/>
                  </a:solidFill>
                  <a:latin typeface="Inter SemiBold"/>
                  <a:ea typeface="Inter SemiBold"/>
                  <a:cs typeface="Inter SemiBold"/>
                  <a:sym typeface="Inter SemiBold"/>
                </a:rPr>
                <a:t>CONFIDENCIAL - USO INTERNO</a:t>
              </a:r>
              <a:endParaRPr b="0" sz="900">
                <a:solidFill>
                  <a:srgbClr val="94A3B8"/>
                </a:solidFill>
                <a:latin typeface="Inter SemiBold"/>
                <a:ea typeface="Inter SemiBold"/>
                <a:cs typeface="Inter SemiBold"/>
                <a:sym typeface="Inter SemiBold"/>
              </a:endParaRPr>
            </a:p>
          </p:txBody>
        </p:sp>
        <p:sp>
          <p:nvSpPr>
            <p:cNvPr id="357" name="Google Shape;357;p20"/>
            <p:cNvSpPr txBox="1"/>
            <p:nvPr/>
          </p:nvSpPr>
          <p:spPr>
            <a:xfrm>
              <a:off x="7810500" y="4857750"/>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900">
                  <a:solidFill>
                    <a:srgbClr val="94A3B8"/>
                  </a:solidFill>
                  <a:latin typeface="Inter SemiBold"/>
                  <a:ea typeface="Inter SemiBold"/>
                  <a:cs typeface="Inter SemiBold"/>
                  <a:sym typeface="Inter SemiBold"/>
                </a:rPr>
                <a:t>2023-10-25</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1"/>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1"/>
          <p:cNvSpPr/>
          <p:nvPr/>
        </p:nvSpPr>
        <p:spPr>
          <a:xfrm>
            <a:off x="0" y="0"/>
            <a:ext cx="9144000" cy="5143500"/>
          </a:xfrm>
          <a:prstGeom prst="rect">
            <a:avLst/>
          </a:prstGeom>
          <a:gradFill>
            <a:gsLst>
              <a:gs pos="0">
                <a:srgbClr val="1E3A8A">
                  <a:alpha val="40000"/>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1"/>
          <p:cNvSpPr/>
          <p:nvPr/>
        </p:nvSpPr>
        <p:spPr>
          <a:xfrm>
            <a:off x="0" y="0"/>
            <a:ext cx="9144000" cy="5143500"/>
          </a:xfrm>
          <a:prstGeom prst="rect">
            <a:avLst/>
          </a:prstGeom>
          <a:gradFill>
            <a:gsLst>
              <a:gs pos="0">
                <a:srgbClr val="064E3B">
                  <a:alpha val="30196"/>
                </a:srgbClr>
              </a:gs>
              <a:gs pos="100000">
                <a:srgbClr val="0F172A">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5" name="Google Shape;365;p21"/>
          <p:cNvGrpSpPr/>
          <p:nvPr/>
        </p:nvGrpSpPr>
        <p:grpSpPr>
          <a:xfrm>
            <a:off x="442913" y="240030"/>
            <a:ext cx="1083469" cy="247650"/>
            <a:chOff x="95250" y="76200"/>
            <a:chExt cx="1666875" cy="381000"/>
          </a:xfrm>
        </p:grpSpPr>
        <p:sp>
          <p:nvSpPr>
            <p:cNvPr id="366" name="Google Shape;366;p21"/>
            <p:cNvSpPr/>
            <p:nvPr/>
          </p:nvSpPr>
          <p:spPr>
            <a:xfrm>
              <a:off x="95250" y="9525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21"/>
            <p:cNvSpPr/>
            <p:nvPr/>
          </p:nvSpPr>
          <p:spPr>
            <a:xfrm>
              <a:off x="266700" y="9525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1"/>
            <p:cNvSpPr txBox="1"/>
            <p:nvPr/>
          </p:nvSpPr>
          <p:spPr>
            <a:xfrm>
              <a:off x="619125" y="7620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400">
                  <a:solidFill>
                    <a:srgbClr val="F8FAFC"/>
                  </a:solidFill>
                  <a:latin typeface="Montserrat"/>
                  <a:ea typeface="Montserrat"/>
                  <a:cs typeface="Montserrat"/>
                  <a:sym typeface="Montserrat"/>
                </a:rPr>
                <a:t>FinApp</a:t>
              </a:r>
              <a:endParaRPr b="1" sz="1400">
                <a:solidFill>
                  <a:srgbClr val="F8FAFC"/>
                </a:solidFill>
                <a:latin typeface="Montserrat"/>
                <a:ea typeface="Montserrat"/>
                <a:cs typeface="Montserrat"/>
                <a:sym typeface="Montserrat"/>
              </a:endParaRPr>
            </a:p>
          </p:txBody>
        </p:sp>
      </p:grpSp>
      <p:sp>
        <p:nvSpPr>
          <p:cNvPr id="369" name="Google Shape;369;p21"/>
          <p:cNvSpPr txBox="1"/>
          <p:nvPr/>
        </p:nvSpPr>
        <p:spPr>
          <a:xfrm>
            <a:off x="381000" y="619125"/>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200">
                <a:solidFill>
                  <a:srgbClr val="F8FAFC"/>
                </a:solidFill>
                <a:latin typeface="Montserrat"/>
                <a:ea typeface="Montserrat"/>
                <a:cs typeface="Montserrat"/>
                <a:sym typeface="Montserrat"/>
              </a:rPr>
              <a:t>Instalación PWA Móvil</a:t>
            </a:r>
            <a:endParaRPr b="1" sz="2200">
              <a:solidFill>
                <a:srgbClr val="F8FAFC"/>
              </a:solidFill>
              <a:latin typeface="Montserrat"/>
              <a:ea typeface="Montserrat"/>
              <a:cs typeface="Montserrat"/>
              <a:sym typeface="Montserrat"/>
            </a:endParaRPr>
          </a:p>
          <a:p>
            <a:pPr indent="0" lvl="0" marL="0" rtl="0" algn="l">
              <a:spcBef>
                <a:spcPts val="150"/>
              </a:spcBef>
              <a:spcAft>
                <a:spcPts val="0"/>
              </a:spcAft>
              <a:buNone/>
            </a:pPr>
            <a:r>
              <a:rPr b="0" lang="es" sz="1300">
                <a:solidFill>
                  <a:srgbClr val="3B82F6"/>
                </a:solidFill>
                <a:latin typeface="Inter Medium"/>
                <a:ea typeface="Inter Medium"/>
                <a:cs typeface="Inter Medium"/>
                <a:sym typeface="Inter Medium"/>
              </a:rPr>
              <a:t>Experiencia Nativa a Pantalla Completa</a:t>
            </a:r>
            <a:endParaRPr b="0" sz="1300">
              <a:solidFill>
                <a:srgbClr val="3B82F6"/>
              </a:solidFill>
              <a:latin typeface="Inter Medium"/>
              <a:ea typeface="Inter Medium"/>
              <a:cs typeface="Inter Medium"/>
              <a:sym typeface="Inter Medium"/>
            </a:endParaRPr>
          </a:p>
        </p:txBody>
      </p:sp>
      <p:grpSp>
        <p:nvGrpSpPr>
          <p:cNvPr id="370" name="Google Shape;370;p21"/>
          <p:cNvGrpSpPr/>
          <p:nvPr/>
        </p:nvGrpSpPr>
        <p:grpSpPr>
          <a:xfrm>
            <a:off x="381000" y="1285875"/>
            <a:ext cx="4095900" cy="1000200"/>
            <a:chOff x="0" y="0"/>
            <a:chExt cx="4095900" cy="1000200"/>
          </a:xfrm>
        </p:grpSpPr>
        <p:sp>
          <p:nvSpPr>
            <p:cNvPr id="371" name="Google Shape;371;p21"/>
            <p:cNvSpPr/>
            <p:nvPr/>
          </p:nvSpPr>
          <p:spPr>
            <a:xfrm>
              <a:off x="0" y="0"/>
              <a:ext cx="4095900" cy="1000200"/>
            </a:xfrm>
            <a:prstGeom prst="roundRect">
              <a:avLst>
                <a:gd fmla="val 9523"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1"/>
            <p:cNvSpPr/>
            <p:nvPr/>
          </p:nvSpPr>
          <p:spPr>
            <a:xfrm>
              <a:off x="0" y="0"/>
              <a:ext cx="38100" cy="1000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1"/>
            <p:cNvSpPr txBox="1"/>
            <p:nvPr/>
          </p:nvSpPr>
          <p:spPr>
            <a:xfrm>
              <a:off x="171450" y="95250"/>
              <a:ext cx="37623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3B82F6"/>
                  </a:solidFill>
                  <a:latin typeface="Inter SemiBold"/>
                  <a:ea typeface="Inter SemiBold"/>
                  <a:cs typeface="Inter SemiBold"/>
                  <a:sym typeface="Inter SemiBold"/>
                </a:rPr>
                <a:t>INSTALACIÓN EN iOS (APPLE)</a:t>
              </a:r>
              <a:endParaRPr b="0" sz="100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es" sz="1100">
                  <a:solidFill>
                    <a:srgbClr val="3B82F6"/>
                  </a:solidFill>
                  <a:latin typeface="Inter SemiBold"/>
                  <a:ea typeface="Inter SemiBold"/>
                  <a:cs typeface="Inter SemiBold"/>
                  <a:sym typeface="Inter SemiBold"/>
                </a:rPr>
                <a:t>1.</a:t>
              </a:r>
              <a:r>
                <a:rPr b="0" lang="es" sz="1100">
                  <a:solidFill>
                    <a:srgbClr val="F8FAFC"/>
                  </a:solidFill>
                  <a:latin typeface="Inter"/>
                  <a:ea typeface="Inter"/>
                  <a:cs typeface="Inter"/>
                  <a:sym typeface="Inter"/>
                </a:rPr>
                <a:t> Abrir FinApp en Safari</a:t>
              </a:r>
              <a:endParaRPr b="0" sz="1100">
                <a:solidFill>
                  <a:srgbClr val="F8FAFC"/>
                </a:solidFill>
                <a:latin typeface="Inter"/>
                <a:ea typeface="Inter"/>
                <a:cs typeface="Inter"/>
                <a:sym typeface="Inter"/>
              </a:endParaRPr>
            </a:p>
            <a:p>
              <a:pPr indent="0" lvl="0" marL="0" rtl="0" algn="l">
                <a:spcBef>
                  <a:spcPts val="225"/>
                </a:spcBef>
                <a:spcAft>
                  <a:spcPts val="0"/>
                </a:spcAft>
                <a:buNone/>
              </a:pPr>
              <a:r>
                <a:rPr b="0" lang="es" sz="1100">
                  <a:solidFill>
                    <a:srgbClr val="3B82F6"/>
                  </a:solidFill>
                  <a:latin typeface="Inter SemiBold"/>
                  <a:ea typeface="Inter SemiBold"/>
                  <a:cs typeface="Inter SemiBold"/>
                  <a:sym typeface="Inter SemiBold"/>
                </a:rPr>
                <a:t>2.</a:t>
              </a:r>
              <a:r>
                <a:rPr b="0" lang="es" sz="1100">
                  <a:solidFill>
                    <a:srgbClr val="F8FAFC"/>
                  </a:solidFill>
                  <a:latin typeface="Inter"/>
                  <a:ea typeface="Inter"/>
                  <a:cs typeface="Inter"/>
                  <a:sym typeface="Inter"/>
                </a:rPr>
                <a:t> Tocar 'Compartir' (cuadrado con flecha hacia arriba)</a:t>
              </a:r>
              <a:endParaRPr b="0" sz="1100">
                <a:solidFill>
                  <a:srgbClr val="F8FAFC"/>
                </a:solidFill>
                <a:latin typeface="Inter"/>
                <a:ea typeface="Inter"/>
                <a:cs typeface="Inter"/>
                <a:sym typeface="Inter"/>
              </a:endParaRPr>
            </a:p>
            <a:p>
              <a:pPr indent="0" lvl="0" marL="0" rtl="0" algn="l">
                <a:spcBef>
                  <a:spcPts val="225"/>
                </a:spcBef>
                <a:spcAft>
                  <a:spcPts val="0"/>
                </a:spcAft>
                <a:buNone/>
              </a:pPr>
              <a:r>
                <a:rPr b="0" lang="es" sz="1100">
                  <a:solidFill>
                    <a:srgbClr val="3B82F6"/>
                  </a:solidFill>
                  <a:latin typeface="Inter SemiBold"/>
                  <a:ea typeface="Inter SemiBold"/>
                  <a:cs typeface="Inter SemiBold"/>
                  <a:sym typeface="Inter SemiBold"/>
                </a:rPr>
                <a:t>3.</a:t>
              </a:r>
              <a:r>
                <a:rPr b="0" lang="es" sz="1100">
                  <a:solidFill>
                    <a:srgbClr val="F8FAFC"/>
                  </a:solidFill>
                  <a:latin typeface="Inter"/>
                  <a:ea typeface="Inter"/>
                  <a:cs typeface="Inter"/>
                  <a:sym typeface="Inter"/>
                </a:rPr>
                <a:t> Seleccionar 'Agregar a inicio'</a:t>
              </a:r>
              <a:endParaRPr b="0" sz="1100">
                <a:solidFill>
                  <a:srgbClr val="F8FAFC"/>
                </a:solidFill>
                <a:latin typeface="Inter"/>
                <a:ea typeface="Inter"/>
                <a:cs typeface="Inter"/>
                <a:sym typeface="Inter"/>
              </a:endParaRPr>
            </a:p>
          </p:txBody>
        </p:sp>
      </p:grpSp>
      <p:grpSp>
        <p:nvGrpSpPr>
          <p:cNvPr id="374" name="Google Shape;374;p21"/>
          <p:cNvGrpSpPr/>
          <p:nvPr/>
        </p:nvGrpSpPr>
        <p:grpSpPr>
          <a:xfrm>
            <a:off x="381000" y="2381250"/>
            <a:ext cx="4095900" cy="1000200"/>
            <a:chOff x="0" y="0"/>
            <a:chExt cx="4095900" cy="1000200"/>
          </a:xfrm>
        </p:grpSpPr>
        <p:sp>
          <p:nvSpPr>
            <p:cNvPr id="375" name="Google Shape;375;p21"/>
            <p:cNvSpPr/>
            <p:nvPr/>
          </p:nvSpPr>
          <p:spPr>
            <a:xfrm>
              <a:off x="0" y="0"/>
              <a:ext cx="4095900" cy="1000200"/>
            </a:xfrm>
            <a:prstGeom prst="roundRect">
              <a:avLst>
                <a:gd fmla="val 9523" name="adj"/>
              </a:avLst>
            </a:prstGeom>
            <a:solidFill>
              <a:srgbClr val="1E293B">
                <a:alpha val="80000"/>
              </a:srgbClr>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1"/>
            <p:cNvSpPr/>
            <p:nvPr/>
          </p:nvSpPr>
          <p:spPr>
            <a:xfrm>
              <a:off x="0" y="0"/>
              <a:ext cx="38100" cy="10002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1"/>
            <p:cNvSpPr txBox="1"/>
            <p:nvPr/>
          </p:nvSpPr>
          <p:spPr>
            <a:xfrm>
              <a:off x="171450" y="95250"/>
              <a:ext cx="37623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10B981"/>
                  </a:solidFill>
                  <a:latin typeface="Inter SemiBold"/>
                  <a:ea typeface="Inter SemiBold"/>
                  <a:cs typeface="Inter SemiBold"/>
                  <a:sym typeface="Inter SemiBold"/>
                </a:rPr>
                <a:t>INSTALACIÓN EN ANDROID</a:t>
              </a:r>
              <a:endParaRPr b="0" sz="1000">
                <a:solidFill>
                  <a:srgbClr val="10B981"/>
                </a:solidFill>
                <a:latin typeface="Inter SemiBold"/>
                <a:ea typeface="Inter SemiBold"/>
                <a:cs typeface="Inter SemiBold"/>
                <a:sym typeface="Inter SemiBold"/>
              </a:endParaRPr>
            </a:p>
            <a:p>
              <a:pPr indent="0" lvl="0" marL="0" rtl="0" algn="l">
                <a:spcBef>
                  <a:spcPts val="300"/>
                </a:spcBef>
                <a:spcAft>
                  <a:spcPts val="0"/>
                </a:spcAft>
                <a:buNone/>
              </a:pPr>
              <a:r>
                <a:rPr b="0" lang="es" sz="1100">
                  <a:solidFill>
                    <a:srgbClr val="10B981"/>
                  </a:solidFill>
                  <a:latin typeface="Inter SemiBold"/>
                  <a:ea typeface="Inter SemiBold"/>
                  <a:cs typeface="Inter SemiBold"/>
                  <a:sym typeface="Inter SemiBold"/>
                </a:rPr>
                <a:t>1.</a:t>
              </a:r>
              <a:r>
                <a:rPr b="0" lang="es" sz="1100">
                  <a:solidFill>
                    <a:srgbClr val="F8FAFC"/>
                  </a:solidFill>
                  <a:latin typeface="Inter"/>
                  <a:ea typeface="Inter"/>
                  <a:cs typeface="Inter"/>
                  <a:sym typeface="Inter"/>
                </a:rPr>
                <a:t> Abrir en Chrome</a:t>
              </a:r>
              <a:endParaRPr b="0" sz="1100">
                <a:solidFill>
                  <a:srgbClr val="F8FAFC"/>
                </a:solidFill>
                <a:latin typeface="Inter"/>
                <a:ea typeface="Inter"/>
                <a:cs typeface="Inter"/>
                <a:sym typeface="Inter"/>
              </a:endParaRPr>
            </a:p>
            <a:p>
              <a:pPr indent="0" lvl="0" marL="0" rtl="0" algn="l">
                <a:spcBef>
                  <a:spcPts val="225"/>
                </a:spcBef>
                <a:spcAft>
                  <a:spcPts val="0"/>
                </a:spcAft>
                <a:buNone/>
              </a:pPr>
              <a:r>
                <a:rPr b="0" lang="es" sz="1100">
                  <a:solidFill>
                    <a:srgbClr val="10B981"/>
                  </a:solidFill>
                  <a:latin typeface="Inter SemiBold"/>
                  <a:ea typeface="Inter SemiBold"/>
                  <a:cs typeface="Inter SemiBold"/>
                  <a:sym typeface="Inter SemiBold"/>
                </a:rPr>
                <a:t>2.</a:t>
              </a:r>
              <a:r>
                <a:rPr b="0" lang="es" sz="1100">
                  <a:solidFill>
                    <a:srgbClr val="F8FAFC"/>
                  </a:solidFill>
                  <a:latin typeface="Inter"/>
                  <a:ea typeface="Inter"/>
                  <a:cs typeface="Inter"/>
                  <a:sym typeface="Inter"/>
                </a:rPr>
                <a:t> Presionar aviso 'Instalar aplicación' o ir al menú (3 puntos) &gt; 'Instalar aplicación'</a:t>
              </a:r>
              <a:endParaRPr b="0" sz="1100">
                <a:solidFill>
                  <a:srgbClr val="F8FAFC"/>
                </a:solidFill>
                <a:latin typeface="Inter"/>
                <a:ea typeface="Inter"/>
                <a:cs typeface="Inter"/>
                <a:sym typeface="Inter"/>
              </a:endParaRPr>
            </a:p>
          </p:txBody>
        </p:sp>
      </p:grpSp>
      <p:grpSp>
        <p:nvGrpSpPr>
          <p:cNvPr id="378" name="Google Shape;378;p21"/>
          <p:cNvGrpSpPr/>
          <p:nvPr/>
        </p:nvGrpSpPr>
        <p:grpSpPr>
          <a:xfrm>
            <a:off x="381000" y="3476625"/>
            <a:ext cx="4095900" cy="1143000"/>
            <a:chOff x="0" y="0"/>
            <a:chExt cx="4095900" cy="1143000"/>
          </a:xfrm>
        </p:grpSpPr>
        <p:sp>
          <p:nvSpPr>
            <p:cNvPr id="379" name="Google Shape;379;p21"/>
            <p:cNvSpPr/>
            <p:nvPr/>
          </p:nvSpPr>
          <p:spPr>
            <a:xfrm>
              <a:off x="0" y="0"/>
              <a:ext cx="4095900" cy="1143000"/>
            </a:xfrm>
            <a:prstGeom prst="roundRect">
              <a:avLst>
                <a:gd fmla="val 8333" name="adj"/>
              </a:avLst>
            </a:prstGeom>
            <a:solidFill>
              <a:srgbClr val="1E3A8A">
                <a:alpha val="25000"/>
              </a:srgbClr>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21"/>
            <p:cNvSpPr/>
            <p:nvPr/>
          </p:nvSpPr>
          <p:spPr>
            <a:xfrm>
              <a:off x="0" y="0"/>
              <a:ext cx="38100" cy="11430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1"/>
            <p:cNvSpPr txBox="1"/>
            <p:nvPr/>
          </p:nvSpPr>
          <p:spPr>
            <a:xfrm>
              <a:off x="171450" y="95250"/>
              <a:ext cx="37623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3B82F6"/>
                  </a:solidFill>
                  <a:latin typeface="Inter SemiBold"/>
                  <a:ea typeface="Inter SemiBold"/>
                  <a:cs typeface="Inter SemiBold"/>
                  <a:sym typeface="Inter SemiBold"/>
                </a:rPr>
                <a:t>BENEFICIOS DE LA PWA</a:t>
              </a:r>
              <a:endParaRPr b="0" sz="100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es" sz="1050">
                  <a:solidFill>
                    <a:srgbClr val="F8FAFC"/>
                  </a:solidFill>
                  <a:latin typeface="Inter"/>
                  <a:ea typeface="Inter"/>
                  <a:cs typeface="Inter"/>
                  <a:sym typeface="Inter"/>
                </a:rPr>
                <a:t>• Ejecución a pantalla completa sin barras de navegación.</a:t>
              </a:r>
              <a:endParaRPr b="0" sz="1050">
                <a:solidFill>
                  <a:srgbClr val="F8FAFC"/>
                </a:solidFill>
                <a:latin typeface="Inter"/>
                <a:ea typeface="Inter"/>
                <a:cs typeface="Inter"/>
                <a:sym typeface="Inter"/>
              </a:endParaRPr>
            </a:p>
            <a:p>
              <a:pPr indent="0" lvl="0" marL="0" rtl="0" algn="l">
                <a:spcBef>
                  <a:spcPts val="225"/>
                </a:spcBef>
                <a:spcAft>
                  <a:spcPts val="0"/>
                </a:spcAft>
                <a:buNone/>
              </a:pPr>
              <a:r>
                <a:rPr b="0" lang="es" sz="1050">
                  <a:solidFill>
                    <a:srgbClr val="F8FAFC"/>
                  </a:solidFill>
                  <a:latin typeface="Inter"/>
                  <a:ea typeface="Inter"/>
                  <a:cs typeface="Inter"/>
                  <a:sym typeface="Inter"/>
                </a:rPr>
                <a:t>• Acceso ultrarrápido y rendimiento nativo.</a:t>
              </a:r>
              <a:endParaRPr b="0" sz="1050">
                <a:solidFill>
                  <a:srgbClr val="F8FAFC"/>
                </a:solidFill>
                <a:latin typeface="Inter"/>
                <a:ea typeface="Inter"/>
                <a:cs typeface="Inter"/>
                <a:sym typeface="Inter"/>
              </a:endParaRPr>
            </a:p>
            <a:p>
              <a:pPr indent="0" lvl="0" marL="0" rtl="0" algn="l">
                <a:spcBef>
                  <a:spcPts val="225"/>
                </a:spcBef>
                <a:spcAft>
                  <a:spcPts val="0"/>
                </a:spcAft>
                <a:buNone/>
              </a:pPr>
              <a:r>
                <a:rPr b="0" lang="es" sz="1050">
                  <a:solidFill>
                    <a:srgbClr val="F8FAFC"/>
                  </a:solidFill>
                  <a:latin typeface="Inter"/>
                  <a:ea typeface="Inter"/>
                  <a:cs typeface="Inter"/>
                  <a:sym typeface="Inter"/>
                </a:rPr>
                <a:t>• Sin depender de App Store / Google Play.</a:t>
              </a:r>
              <a:endParaRPr b="0" sz="1050">
                <a:solidFill>
                  <a:srgbClr val="F8FAFC"/>
                </a:solidFill>
                <a:latin typeface="Inter"/>
                <a:ea typeface="Inter"/>
                <a:cs typeface="Inter"/>
                <a:sym typeface="Inter"/>
              </a:endParaRPr>
            </a:p>
          </p:txBody>
        </p:sp>
      </p:grpSp>
      <p:grpSp>
        <p:nvGrpSpPr>
          <p:cNvPr id="382" name="Google Shape;382;p21"/>
          <p:cNvGrpSpPr/>
          <p:nvPr/>
        </p:nvGrpSpPr>
        <p:grpSpPr>
          <a:xfrm>
            <a:off x="4733925" y="1485900"/>
            <a:ext cx="1533600" cy="2876550"/>
            <a:chOff x="19050" y="152400"/>
            <a:chExt cx="1533600" cy="2876550"/>
          </a:xfrm>
        </p:grpSpPr>
        <p:pic>
          <p:nvPicPr>
            <p:cNvPr id="383" name="Google Shape;383;p21"/>
            <p:cNvPicPr preferRelativeResize="0"/>
            <p:nvPr/>
          </p:nvPicPr>
          <p:blipFill rotWithShape="1">
            <a:blip r:embed="rId3">
              <a:alphaModFix/>
            </a:blip>
            <a:srcRect b="0" l="0" r="0" t="0"/>
            <a:stretch/>
          </p:blipFill>
          <p:spPr>
            <a:xfrm>
              <a:off x="142875" y="190500"/>
              <a:ext cx="19200" cy="2628900"/>
            </a:xfrm>
            <a:prstGeom prst="rect">
              <a:avLst/>
            </a:prstGeom>
            <a:noFill/>
            <a:ln>
              <a:noFill/>
            </a:ln>
          </p:spPr>
        </p:pic>
        <p:sp>
          <p:nvSpPr>
            <p:cNvPr id="384" name="Google Shape;384;p21"/>
            <p:cNvSpPr/>
            <p:nvPr/>
          </p:nvSpPr>
          <p:spPr>
            <a:xfrm>
              <a:off x="19050" y="152400"/>
              <a:ext cx="266700" cy="2667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1"/>
            <p:cNvSpPr txBox="1"/>
            <p:nvPr/>
          </p:nvSpPr>
          <p:spPr>
            <a:xfrm>
              <a:off x="57150" y="200025"/>
              <a:ext cx="1905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000">
                  <a:solidFill>
                    <a:srgbClr val="FFFFFF"/>
                  </a:solidFill>
                  <a:latin typeface="Inter SemiBold"/>
                  <a:ea typeface="Inter SemiBold"/>
                  <a:cs typeface="Inter SemiBold"/>
                  <a:sym typeface="Inter SemiBold"/>
                </a:rPr>
                <a:t>1</a:t>
              </a:r>
              <a:endParaRPr b="0" sz="1000">
                <a:solidFill>
                  <a:srgbClr val="FFFFFF"/>
                </a:solidFill>
                <a:latin typeface="Inter SemiBold"/>
                <a:ea typeface="Inter SemiBold"/>
                <a:cs typeface="Inter SemiBold"/>
                <a:sym typeface="Inter SemiBold"/>
              </a:endParaRPr>
            </a:p>
          </p:txBody>
        </p:sp>
        <p:sp>
          <p:nvSpPr>
            <p:cNvPr id="386" name="Google Shape;386;p21"/>
            <p:cNvSpPr txBox="1"/>
            <p:nvPr/>
          </p:nvSpPr>
          <p:spPr>
            <a:xfrm>
              <a:off x="361950" y="171450"/>
              <a:ext cx="1190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F8FAFC"/>
                  </a:solidFill>
                  <a:latin typeface="Inter SemiBold"/>
                  <a:ea typeface="Inter SemiBold"/>
                  <a:cs typeface="Inter SemiBold"/>
                  <a:sym typeface="Inter SemiBold"/>
                </a:rPr>
                <a:t>Navegar</a:t>
              </a:r>
              <a:endParaRPr b="0" sz="1000">
                <a:solidFill>
                  <a:srgbClr val="F8FAFC"/>
                </a:solidFill>
                <a:latin typeface="Inter SemiBold"/>
                <a:ea typeface="Inter SemiBold"/>
                <a:cs typeface="Inter SemiBold"/>
                <a:sym typeface="Inter SemiBold"/>
              </a:endParaRPr>
            </a:p>
            <a:p>
              <a:pPr indent="0" lvl="0" marL="0" rtl="0" algn="l">
                <a:spcBef>
                  <a:spcPts val="0"/>
                </a:spcBef>
                <a:spcAft>
                  <a:spcPts val="0"/>
                </a:spcAft>
                <a:buNone/>
              </a:pPr>
              <a:r>
                <a:rPr b="0" lang="es" sz="900">
                  <a:solidFill>
                    <a:srgbClr val="94A3B8"/>
                  </a:solidFill>
                  <a:latin typeface="Inter"/>
                  <a:ea typeface="Inter"/>
                  <a:cs typeface="Inter"/>
                  <a:sym typeface="Inter"/>
                </a:rPr>
                <a:t>Safari / Chrome</a:t>
              </a:r>
              <a:endParaRPr b="0" sz="900">
                <a:solidFill>
                  <a:srgbClr val="94A3B8"/>
                </a:solidFill>
                <a:latin typeface="Inter"/>
                <a:ea typeface="Inter"/>
                <a:cs typeface="Inter"/>
                <a:sym typeface="Inter"/>
              </a:endParaRPr>
            </a:p>
          </p:txBody>
        </p:sp>
        <p:sp>
          <p:nvSpPr>
            <p:cNvPr id="387" name="Google Shape;387;p21"/>
            <p:cNvSpPr/>
            <p:nvPr/>
          </p:nvSpPr>
          <p:spPr>
            <a:xfrm>
              <a:off x="19050" y="1390650"/>
              <a:ext cx="266700" cy="2667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1"/>
            <p:cNvSpPr txBox="1"/>
            <p:nvPr/>
          </p:nvSpPr>
          <p:spPr>
            <a:xfrm>
              <a:off x="57150" y="1438275"/>
              <a:ext cx="1905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000">
                  <a:solidFill>
                    <a:srgbClr val="FFFFFF"/>
                  </a:solidFill>
                  <a:latin typeface="Inter SemiBold"/>
                  <a:ea typeface="Inter SemiBold"/>
                  <a:cs typeface="Inter SemiBold"/>
                  <a:sym typeface="Inter SemiBold"/>
                </a:rPr>
                <a:t>2</a:t>
              </a:r>
              <a:endParaRPr b="0" sz="1000">
                <a:solidFill>
                  <a:srgbClr val="FFFFFF"/>
                </a:solidFill>
                <a:latin typeface="Inter SemiBold"/>
                <a:ea typeface="Inter SemiBold"/>
                <a:cs typeface="Inter SemiBold"/>
                <a:sym typeface="Inter SemiBold"/>
              </a:endParaRPr>
            </a:p>
          </p:txBody>
        </p:sp>
        <p:sp>
          <p:nvSpPr>
            <p:cNvPr id="389" name="Google Shape;389;p21"/>
            <p:cNvSpPr txBox="1"/>
            <p:nvPr/>
          </p:nvSpPr>
          <p:spPr>
            <a:xfrm>
              <a:off x="361950" y="1409700"/>
              <a:ext cx="1190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F8FAFC"/>
                  </a:solidFill>
                  <a:latin typeface="Inter SemiBold"/>
                  <a:ea typeface="Inter SemiBold"/>
                  <a:cs typeface="Inter SemiBold"/>
                  <a:sym typeface="Inter SemiBold"/>
                </a:rPr>
                <a:t>Acción</a:t>
              </a:r>
              <a:endParaRPr b="0" sz="1000">
                <a:solidFill>
                  <a:srgbClr val="F8FAFC"/>
                </a:solidFill>
                <a:latin typeface="Inter SemiBold"/>
                <a:ea typeface="Inter SemiBold"/>
                <a:cs typeface="Inter SemiBold"/>
                <a:sym typeface="Inter SemiBold"/>
              </a:endParaRPr>
            </a:p>
            <a:p>
              <a:pPr indent="0" lvl="0" marL="0" rtl="0" algn="l">
                <a:spcBef>
                  <a:spcPts val="0"/>
                </a:spcBef>
                <a:spcAft>
                  <a:spcPts val="0"/>
                </a:spcAft>
                <a:buNone/>
              </a:pPr>
              <a:r>
                <a:rPr b="0" lang="es" sz="900">
                  <a:solidFill>
                    <a:srgbClr val="94A3B8"/>
                  </a:solidFill>
                  <a:latin typeface="Inter"/>
                  <a:ea typeface="Inter"/>
                  <a:cs typeface="Inter"/>
                  <a:sym typeface="Inter"/>
                </a:rPr>
                <a:t>Compartir / Menú</a:t>
              </a:r>
              <a:endParaRPr b="0" sz="900">
                <a:solidFill>
                  <a:srgbClr val="94A3B8"/>
                </a:solidFill>
                <a:latin typeface="Inter"/>
                <a:ea typeface="Inter"/>
                <a:cs typeface="Inter"/>
                <a:sym typeface="Inter"/>
              </a:endParaRPr>
            </a:p>
          </p:txBody>
        </p:sp>
        <p:sp>
          <p:nvSpPr>
            <p:cNvPr id="390" name="Google Shape;390;p21"/>
            <p:cNvSpPr/>
            <p:nvPr/>
          </p:nvSpPr>
          <p:spPr>
            <a:xfrm>
              <a:off x="19050" y="2628900"/>
              <a:ext cx="266700" cy="2667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1"/>
            <p:cNvSpPr txBox="1"/>
            <p:nvPr/>
          </p:nvSpPr>
          <p:spPr>
            <a:xfrm>
              <a:off x="57150" y="2676525"/>
              <a:ext cx="1905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000">
                  <a:solidFill>
                    <a:srgbClr val="FFFFFF"/>
                  </a:solidFill>
                  <a:latin typeface="Inter SemiBold"/>
                  <a:ea typeface="Inter SemiBold"/>
                  <a:cs typeface="Inter SemiBold"/>
                  <a:sym typeface="Inter SemiBold"/>
                </a:rPr>
                <a:t>3</a:t>
              </a:r>
              <a:endParaRPr b="0" sz="1000">
                <a:solidFill>
                  <a:srgbClr val="FFFFFF"/>
                </a:solidFill>
                <a:latin typeface="Inter SemiBold"/>
                <a:ea typeface="Inter SemiBold"/>
                <a:cs typeface="Inter SemiBold"/>
                <a:sym typeface="Inter SemiBold"/>
              </a:endParaRPr>
            </a:p>
          </p:txBody>
        </p:sp>
        <p:sp>
          <p:nvSpPr>
            <p:cNvPr id="392" name="Google Shape;392;p21"/>
            <p:cNvSpPr txBox="1"/>
            <p:nvPr/>
          </p:nvSpPr>
          <p:spPr>
            <a:xfrm>
              <a:off x="361950" y="2647950"/>
              <a:ext cx="1190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10B981"/>
                  </a:solidFill>
                  <a:latin typeface="Inter SemiBold"/>
                  <a:ea typeface="Inter SemiBold"/>
                  <a:cs typeface="Inter SemiBold"/>
                  <a:sym typeface="Inter SemiBold"/>
                </a:rPr>
                <a:t>¡Listo!</a:t>
              </a:r>
              <a:endParaRPr b="0" sz="1000">
                <a:solidFill>
                  <a:srgbClr val="10B981"/>
                </a:solidFill>
                <a:latin typeface="Inter SemiBold"/>
                <a:ea typeface="Inter SemiBold"/>
                <a:cs typeface="Inter SemiBold"/>
                <a:sym typeface="Inter SemiBold"/>
              </a:endParaRPr>
            </a:p>
            <a:p>
              <a:pPr indent="0" lvl="0" marL="0" rtl="0" algn="l">
                <a:spcBef>
                  <a:spcPts val="0"/>
                </a:spcBef>
                <a:spcAft>
                  <a:spcPts val="0"/>
                </a:spcAft>
                <a:buNone/>
              </a:pPr>
              <a:r>
                <a:rPr b="0" lang="es" sz="900">
                  <a:solidFill>
                    <a:srgbClr val="94A3B8"/>
                  </a:solidFill>
                  <a:latin typeface="Inter"/>
                  <a:ea typeface="Inter"/>
                  <a:cs typeface="Inter"/>
                  <a:sym typeface="Inter"/>
                </a:rPr>
                <a:t>Agregar a inicio</a:t>
              </a:r>
              <a:endParaRPr b="0" sz="900">
                <a:solidFill>
                  <a:srgbClr val="94A3B8"/>
                </a:solidFill>
                <a:latin typeface="Inter"/>
                <a:ea typeface="Inter"/>
                <a:cs typeface="Inter"/>
                <a:sym typeface="Inter"/>
              </a:endParaRPr>
            </a:p>
          </p:txBody>
        </p:sp>
      </p:grpSp>
      <p:grpSp>
        <p:nvGrpSpPr>
          <p:cNvPr id="393" name="Google Shape;393;p21"/>
          <p:cNvGrpSpPr/>
          <p:nvPr/>
        </p:nvGrpSpPr>
        <p:grpSpPr>
          <a:xfrm>
            <a:off x="6429375" y="1285875"/>
            <a:ext cx="2333700" cy="3333900"/>
            <a:chOff x="0" y="0"/>
            <a:chExt cx="2333700" cy="3333900"/>
          </a:xfrm>
        </p:grpSpPr>
        <p:sp>
          <p:nvSpPr>
            <p:cNvPr id="394" name="Google Shape;394;p21"/>
            <p:cNvSpPr/>
            <p:nvPr/>
          </p:nvSpPr>
          <p:spPr>
            <a:xfrm>
              <a:off x="0" y="0"/>
              <a:ext cx="2333700" cy="3333900"/>
            </a:xfrm>
            <a:prstGeom prst="roundRect">
              <a:avLst>
                <a:gd fmla="val 11428" name="adj"/>
              </a:avLst>
            </a:prstGeom>
            <a:solidFill>
              <a:srgbClr val="0F172A"/>
            </a:solidFill>
            <a:ln cap="flat" cmpd="sng" w="33350">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1"/>
            <p:cNvSpPr/>
            <p:nvPr/>
          </p:nvSpPr>
          <p:spPr>
            <a:xfrm>
              <a:off x="76200" y="76200"/>
              <a:ext cx="2181300" cy="3181200"/>
            </a:xfrm>
            <a:prstGeom prst="roundRect">
              <a:avLst>
                <a:gd fmla="val 9606"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1"/>
            <p:cNvSpPr/>
            <p:nvPr/>
          </p:nvSpPr>
          <p:spPr>
            <a:xfrm>
              <a:off x="785813" y="142875"/>
              <a:ext cx="762000" cy="57300"/>
            </a:xfrm>
            <a:prstGeom prst="roundRect">
              <a:avLst>
                <a:gd fmla="val 5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21"/>
            <p:cNvSpPr txBox="1"/>
            <p:nvPr/>
          </p:nvSpPr>
          <p:spPr>
            <a:xfrm>
              <a:off x="142875" y="304800"/>
              <a:ext cx="20478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00">
                  <a:solidFill>
                    <a:srgbClr val="94A3B8"/>
                  </a:solidFill>
                  <a:latin typeface="Inter SemiBold"/>
                  <a:ea typeface="Inter SemiBold"/>
                  <a:cs typeface="Inter SemiBold"/>
                  <a:sym typeface="Inter SemiBold"/>
                </a:rPr>
                <a:t>PANTALLA DE INICIO</a:t>
              </a:r>
              <a:endParaRPr b="0" sz="800">
                <a:solidFill>
                  <a:srgbClr val="94A3B8"/>
                </a:solidFill>
                <a:latin typeface="Inter SemiBold"/>
                <a:ea typeface="Inter SemiBold"/>
                <a:cs typeface="Inter SemiBold"/>
                <a:sym typeface="Inter SemiBold"/>
              </a:endParaRPr>
            </a:p>
          </p:txBody>
        </p:sp>
        <p:grpSp>
          <p:nvGrpSpPr>
            <p:cNvPr id="398" name="Google Shape;398;p21"/>
            <p:cNvGrpSpPr/>
            <p:nvPr/>
          </p:nvGrpSpPr>
          <p:grpSpPr>
            <a:xfrm>
              <a:off x="862013" y="666750"/>
              <a:ext cx="609600" cy="609600"/>
              <a:chOff x="0" y="0"/>
              <a:chExt cx="609600" cy="609600"/>
            </a:xfrm>
          </p:grpSpPr>
          <p:sp>
            <p:nvSpPr>
              <p:cNvPr id="399" name="Google Shape;399;p21"/>
              <p:cNvSpPr/>
              <p:nvPr/>
            </p:nvSpPr>
            <p:spPr>
              <a:xfrm>
                <a:off x="0" y="0"/>
                <a:ext cx="609600" cy="609600"/>
              </a:xfrm>
              <a:prstGeom prst="roundRect">
                <a:avLst>
                  <a:gd fmla="val 25000" name="adj"/>
                </a:avLst>
              </a:prstGeom>
              <a:solidFill>
                <a:srgbClr val="0F172A"/>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1"/>
              <p:cNvSpPr/>
              <p:nvPr/>
            </p:nvSpPr>
            <p:spPr>
              <a:xfrm>
                <a:off x="152400" y="152400"/>
                <a:ext cx="142800" cy="285900"/>
              </a:xfrm>
              <a:custGeom>
                <a:rect b="b" l="l" r="r" t="t"/>
                <a:pathLst>
                  <a:path extrusionOk="0" h="120000" w="120000">
                    <a:moveTo>
                      <a:pt x="0" y="0"/>
                    </a:moveTo>
                    <a:lnTo>
                      <a:pt x="120000" y="0"/>
                    </a:lnTo>
                    <a:lnTo>
                      <a:pt x="120000" y="24000"/>
                    </a:lnTo>
                    <a:lnTo>
                      <a:pt x="48000" y="24000"/>
                    </a:lnTo>
                    <a:lnTo>
                      <a:pt x="48000" y="48000"/>
                    </a:lnTo>
                    <a:lnTo>
                      <a:pt x="96000" y="48000"/>
                    </a:lnTo>
                    <a:lnTo>
                      <a:pt x="96000" y="72000"/>
                    </a:lnTo>
                    <a:lnTo>
                      <a:pt x="48000" y="72000"/>
                    </a:lnTo>
                    <a:lnTo>
                      <a:pt x="48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1"/>
              <p:cNvSpPr/>
              <p:nvPr/>
            </p:nvSpPr>
            <p:spPr>
              <a:xfrm>
                <a:off x="323850" y="152400"/>
                <a:ext cx="266700" cy="247800"/>
              </a:xfrm>
              <a:custGeom>
                <a:rect b="b" l="l" r="r" t="t"/>
                <a:pathLst>
                  <a:path extrusionOk="0" h="120000" w="120000">
                    <a:moveTo>
                      <a:pt x="0" y="83077"/>
                    </a:moveTo>
                    <a:lnTo>
                      <a:pt x="42857" y="36923"/>
                    </a:lnTo>
                    <a:lnTo>
                      <a:pt x="68571" y="64615"/>
                    </a:lnTo>
                    <a:lnTo>
                      <a:pt x="120000" y="0"/>
                    </a:lnTo>
                    <a:lnTo>
                      <a:pt x="120000" y="36923"/>
                    </a:lnTo>
                    <a:lnTo>
                      <a:pt x="68571" y="101538"/>
                    </a:lnTo>
                    <a:lnTo>
                      <a:pt x="42857" y="73846"/>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02" name="Google Shape;402;p21"/>
            <p:cNvSpPr txBox="1"/>
            <p:nvPr/>
          </p:nvSpPr>
          <p:spPr>
            <a:xfrm>
              <a:off x="190500" y="1333500"/>
              <a:ext cx="1952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100">
                  <a:solidFill>
                    <a:srgbClr val="F8FAFC"/>
                  </a:solidFill>
                  <a:latin typeface="Inter"/>
                  <a:ea typeface="Inter"/>
                  <a:cs typeface="Inter"/>
                  <a:sym typeface="Inter"/>
                </a:rPr>
                <a:t>FinApp</a:t>
              </a:r>
              <a:endParaRPr b="1" sz="1100">
                <a:solidFill>
                  <a:srgbClr val="F8FAFC"/>
                </a:solidFill>
                <a:latin typeface="Inter"/>
                <a:ea typeface="Inter"/>
                <a:cs typeface="Inter"/>
                <a:sym typeface="Inter"/>
              </a:endParaRPr>
            </a:p>
          </p:txBody>
        </p:sp>
        <p:grpSp>
          <p:nvGrpSpPr>
            <p:cNvPr id="403" name="Google Shape;403;p21"/>
            <p:cNvGrpSpPr/>
            <p:nvPr/>
          </p:nvGrpSpPr>
          <p:grpSpPr>
            <a:xfrm>
              <a:off x="190500" y="1714500"/>
              <a:ext cx="1952700" cy="1047900"/>
              <a:chOff x="0" y="0"/>
              <a:chExt cx="1952700" cy="1047900"/>
            </a:xfrm>
          </p:grpSpPr>
          <p:sp>
            <p:nvSpPr>
              <p:cNvPr id="404" name="Google Shape;404;p21"/>
              <p:cNvSpPr/>
              <p:nvPr/>
            </p:nvSpPr>
            <p:spPr>
              <a:xfrm>
                <a:off x="0" y="0"/>
                <a:ext cx="1952700" cy="1047900"/>
              </a:xfrm>
              <a:prstGeom prst="roundRect">
                <a:avLst>
                  <a:gd fmla="val 10909" name="adj"/>
                </a:avLst>
              </a:prstGeom>
              <a:solidFill>
                <a:srgbClr val="0F172A">
                  <a:alpha val="90000"/>
                </a:srgbClr>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1"/>
              <p:cNvSpPr txBox="1"/>
              <p:nvPr/>
            </p:nvSpPr>
            <p:spPr>
              <a:xfrm>
                <a:off x="114300" y="114300"/>
                <a:ext cx="1724100" cy="81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800">
                    <a:solidFill>
                      <a:srgbClr val="10B981"/>
                    </a:solidFill>
                    <a:latin typeface="Inter SemiBold"/>
                    <a:ea typeface="Inter SemiBold"/>
                    <a:cs typeface="Inter SemiBold"/>
                    <a:sym typeface="Inter SemiBold"/>
                  </a:rPr>
                  <a:t>MODO PANTALLA COMPLETA</a:t>
                </a:r>
                <a:endParaRPr b="0" sz="800">
                  <a:solidFill>
                    <a:srgbClr val="10B981"/>
                  </a:solidFill>
                  <a:latin typeface="Inter SemiBold"/>
                  <a:ea typeface="Inter SemiBold"/>
                  <a:cs typeface="Inter SemiBold"/>
                  <a:sym typeface="Inter SemiBold"/>
                </a:endParaRPr>
              </a:p>
              <a:p>
                <a:pPr indent="0" lvl="0" marL="0" rtl="0" algn="ctr">
                  <a:spcBef>
                    <a:spcPts val="450"/>
                  </a:spcBef>
                  <a:spcAft>
                    <a:spcPts val="0"/>
                  </a:spcAft>
                  <a:buNone/>
                </a:pPr>
                <a:r>
                  <a:rPr b="0" lang="es" sz="850">
                    <a:solidFill>
                      <a:srgbClr val="F8FAFC"/>
                    </a:solidFill>
                    <a:latin typeface="Inter"/>
                    <a:ea typeface="Inter"/>
                    <a:cs typeface="Inter"/>
                    <a:sym typeface="Inter"/>
                  </a:rPr>
                  <a:t>Acceso directo creado en pantalla de inicio.</a:t>
                </a:r>
                <a:endParaRPr b="0" sz="850">
                  <a:solidFill>
                    <a:srgbClr val="F8FAFC"/>
                  </a:solidFill>
                  <a:latin typeface="Inter"/>
                  <a:ea typeface="Inter"/>
                  <a:cs typeface="Inter"/>
                  <a:sym typeface="Inter"/>
                </a:endParaRPr>
              </a:p>
              <a:p>
                <a:pPr indent="0" lvl="0" marL="0" rtl="0" algn="ctr">
                  <a:spcBef>
                    <a:spcPts val="300"/>
                  </a:spcBef>
                  <a:spcAft>
                    <a:spcPts val="0"/>
                  </a:spcAft>
                  <a:buNone/>
                </a:pPr>
                <a:r>
                  <a:rPr b="0" lang="es" sz="800">
                    <a:solidFill>
                      <a:srgbClr val="94A3B8"/>
                    </a:solidFill>
                    <a:latin typeface="Inter"/>
                    <a:ea typeface="Inter"/>
                    <a:cs typeface="Inter"/>
                    <a:sym typeface="Inter"/>
                  </a:rPr>
                  <a:t>Experiencia y rendimiento nativo sin App Store.</a:t>
                </a:r>
                <a:endParaRPr b="0" sz="800">
                  <a:solidFill>
                    <a:srgbClr val="94A3B8"/>
                  </a:solidFill>
                  <a:latin typeface="Inter"/>
                  <a:ea typeface="Inter"/>
                  <a:cs typeface="Inter"/>
                  <a:sym typeface="Inter"/>
                </a:endParaRPr>
              </a:p>
            </p:txBody>
          </p:sp>
        </p:grpSp>
        <p:sp>
          <p:nvSpPr>
            <p:cNvPr id="406" name="Google Shape;406;p21"/>
            <p:cNvSpPr/>
            <p:nvPr/>
          </p:nvSpPr>
          <p:spPr>
            <a:xfrm>
              <a:off x="785813" y="3105150"/>
              <a:ext cx="762000" cy="38100"/>
            </a:xfrm>
            <a:prstGeom prst="roundRect">
              <a:avLst>
                <a:gd fmla="val 50000" name="adj"/>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07" name="Google Shape;407;p21"/>
          <p:cNvGrpSpPr/>
          <p:nvPr/>
        </p:nvGrpSpPr>
        <p:grpSpPr>
          <a:xfrm>
            <a:off x="381000" y="4762500"/>
            <a:ext cx="8382000" cy="285750"/>
            <a:chOff x="381000" y="4762500"/>
            <a:chExt cx="8382000" cy="285750"/>
          </a:xfrm>
        </p:grpSpPr>
        <p:cxnSp>
          <p:nvCxnSpPr>
            <p:cNvPr id="408" name="Google Shape;408;p21"/>
            <p:cNvCxnSpPr/>
            <p:nvPr/>
          </p:nvCxnSpPr>
          <p:spPr>
            <a:xfrm>
              <a:off x="381000" y="476250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409" name="Google Shape;409;p21"/>
            <p:cNvSpPr txBox="1"/>
            <p:nvPr/>
          </p:nvSpPr>
          <p:spPr>
            <a:xfrm>
              <a:off x="381000" y="48577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000">
                  <a:solidFill>
                    <a:srgbClr val="94A3B8"/>
                  </a:solidFill>
                  <a:latin typeface="Inter SemiBold"/>
                  <a:ea typeface="Inter SemiBold"/>
                  <a:cs typeface="Inter SemiBold"/>
                  <a:sym typeface="Inter SemiBold"/>
                </a:rPr>
                <a:t>CONFIDENCIAL - USO INTERNO</a:t>
              </a:r>
              <a:endParaRPr b="0" sz="1000">
                <a:solidFill>
                  <a:srgbClr val="94A3B8"/>
                </a:solidFill>
                <a:latin typeface="Inter SemiBold"/>
                <a:ea typeface="Inter SemiBold"/>
                <a:cs typeface="Inter SemiBold"/>
                <a:sym typeface="Inter SemiBold"/>
              </a:endParaRPr>
            </a:p>
          </p:txBody>
        </p:sp>
        <p:sp>
          <p:nvSpPr>
            <p:cNvPr id="410" name="Google Shape;410;p21"/>
            <p:cNvSpPr txBox="1"/>
            <p:nvPr/>
          </p:nvSpPr>
          <p:spPr>
            <a:xfrm>
              <a:off x="7810500" y="4857750"/>
              <a:ext cx="952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s" sz="1000">
                  <a:solidFill>
                    <a:srgbClr val="94A3B8"/>
                  </a:solidFill>
                  <a:latin typeface="Inter SemiBold"/>
                  <a:ea typeface="Inter SemiBold"/>
                  <a:cs typeface="Inter SemiBold"/>
                  <a:sym typeface="Inter SemiBold"/>
                </a:rPr>
                <a:t>2023-10-25</a:t>
              </a:r>
              <a:endParaRPr b="0" sz="1000">
                <a:solidFill>
                  <a:srgbClr val="94A3B8"/>
                </a:solidFill>
                <a:latin typeface="Inter SemiBold"/>
                <a:ea typeface="Inter SemiBold"/>
                <a:cs typeface="Inter SemiBold"/>
                <a:sym typeface="Inter SemiBold"/>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